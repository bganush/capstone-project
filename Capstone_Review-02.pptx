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2" name="Shape 2"/>
        <p:cNvGrpSpPr/>
        <p:nvPr/>
      </p:nvGrpSpPr>
      <p:grpSpPr>
        <a:xfrm>
          <a:off x="0" y="0"/>
          <a:ext cx="0" cy="0"/>
          <a:chOff x="0" y="0"/>
          <a:chExt cx="0" cy="0"/>
        </a:xfrm>
      </p:grpSpPr>
      <p:sp>
        <p:nvSpPr>
          <p:cNvPr id="3" name="Google Shape;3;n"/>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914400" marR="0" lvl="1"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1371600" marR="0" lvl="2"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828800" marR="0" lvl="3"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2286000" marR="0" lvl="4"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743200" marR="0" lvl="5"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3200400" marR="0" lvl="6"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657600" marR="0" lvl="7"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4114800" marR="0" lvl="8" indent="-298450" algn="l" rtl="0">
              <a:lnSpc>
                <a:spcPct val="100000"/>
              </a:lnSpc>
              <a:spcBef>
                <a:spcPts val="0"/>
              </a:spcBef>
              <a:spcAft>
                <a:spcPts val="0"/>
              </a:spcAft>
              <a:buClr>
                <a:srgbClr val="000000"/>
              </a:buClr>
              <a:buSzPts val="1100"/>
              <a:buFont typeface="Arial" panose="020B0604020202020204"/>
              <a:buChar char="■"/>
              <a:defRPr sz="11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89" name="Shape 89"/>
        <p:cNvGrpSpPr/>
        <p:nvPr/>
      </p:nvGrpSpPr>
      <p:grpSpPr>
        <a:xfrm>
          <a:off x="0" y="0"/>
          <a:ext cx="0" cy="0"/>
          <a:chOff x="0" y="0"/>
          <a:chExt cx="0" cy="0"/>
        </a:xfrm>
      </p:grpSpPr>
      <p:sp>
        <p:nvSpPr>
          <p:cNvPr id="90" name="Google Shape;90;p1: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91" name="Google Shape;91;p1: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98" name="Shape 98"/>
        <p:cNvGrpSpPr/>
        <p:nvPr/>
      </p:nvGrpSpPr>
      <p:grpSpPr>
        <a:xfrm>
          <a:off x="0" y="0"/>
          <a:ext cx="0" cy="0"/>
          <a:chOff x="0" y="0"/>
          <a:chExt cx="0" cy="0"/>
        </a:xfrm>
      </p:grpSpPr>
      <p:sp>
        <p:nvSpPr>
          <p:cNvPr id="99" name="Google Shape;99;p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0" name="Google Shape;100;p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04" name="Shape 104"/>
        <p:cNvGrpSpPr/>
        <p:nvPr/>
      </p:nvGrpSpPr>
      <p:grpSpPr>
        <a:xfrm>
          <a:off x="0" y="0"/>
          <a:ext cx="0" cy="0"/>
          <a:chOff x="0" y="0"/>
          <a:chExt cx="0" cy="0"/>
        </a:xfrm>
      </p:grpSpPr>
      <p:sp>
        <p:nvSpPr>
          <p:cNvPr id="105" name="Google Shape;105;p3: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06" name="Google Shape;106;p3: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0" name="Shape 110"/>
        <p:cNvGrpSpPr/>
        <p:nvPr/>
      </p:nvGrpSpPr>
      <p:grpSpPr>
        <a:xfrm>
          <a:off x="0" y="0"/>
          <a:ext cx="0" cy="0"/>
          <a:chOff x="0" y="0"/>
          <a:chExt cx="0" cy="0"/>
        </a:xfrm>
      </p:grpSpPr>
      <p:sp>
        <p:nvSpPr>
          <p:cNvPr id="111" name="Google Shape;111;g37cec8a919b_0_4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7cec8a919b_0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16" name="Shape 116"/>
        <p:cNvGrpSpPr/>
        <p:nvPr/>
      </p:nvGrpSpPr>
      <p:grpSpPr>
        <a:xfrm>
          <a:off x="0" y="0"/>
          <a:ext cx="0" cy="0"/>
          <a:chOff x="0" y="0"/>
          <a:chExt cx="0" cy="0"/>
        </a:xfrm>
      </p:grpSpPr>
      <p:sp>
        <p:nvSpPr>
          <p:cNvPr id="117" name="Google Shape;117;g37cec8a919b_0_20: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7cec8a919b_0_20: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2" name="Shape 122"/>
        <p:cNvGrpSpPr/>
        <p:nvPr/>
      </p:nvGrpSpPr>
      <p:grpSpPr>
        <a:xfrm>
          <a:off x="0" y="0"/>
          <a:ext cx="0" cy="0"/>
          <a:chOff x="0" y="0"/>
          <a:chExt cx="0" cy="0"/>
        </a:xfrm>
      </p:grpSpPr>
      <p:sp>
        <p:nvSpPr>
          <p:cNvPr id="123" name="Google Shape;123;g37cec8a919b_0_26: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7cec8a919b_0_2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28" name="Shape 128"/>
        <p:cNvGrpSpPr/>
        <p:nvPr/>
      </p:nvGrpSpPr>
      <p:grpSpPr>
        <a:xfrm>
          <a:off x="0" y="0"/>
          <a:ext cx="0" cy="0"/>
          <a:chOff x="0" y="0"/>
          <a:chExt cx="0" cy="0"/>
        </a:xfrm>
      </p:grpSpPr>
      <p:sp>
        <p:nvSpPr>
          <p:cNvPr id="129" name="Google Shape;129;p4: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0" name="Google Shape;130;p4: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34" name="Shape 134"/>
        <p:cNvGrpSpPr/>
        <p:nvPr/>
      </p:nvGrpSpPr>
      <p:grpSpPr>
        <a:xfrm>
          <a:off x="0" y="0"/>
          <a:ext cx="0" cy="0"/>
          <a:chOff x="0" y="0"/>
          <a:chExt cx="0" cy="0"/>
        </a:xfrm>
      </p:grpSpPr>
      <p:sp>
        <p:nvSpPr>
          <p:cNvPr id="135" name="Google Shape;135;p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36" name="Google Shape;136;p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0" name="Shape 140"/>
        <p:cNvGrpSpPr/>
        <p:nvPr/>
      </p:nvGrpSpPr>
      <p:grpSpPr>
        <a:xfrm>
          <a:off x="0" y="0"/>
          <a:ext cx="0" cy="0"/>
          <a:chOff x="0" y="0"/>
          <a:chExt cx="0" cy="0"/>
        </a:xfrm>
      </p:grpSpPr>
      <p:sp>
        <p:nvSpPr>
          <p:cNvPr id="141" name="Google Shape;141;p10: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42" name="Google Shape;142;p10: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46" name="Shape 146"/>
        <p:cNvGrpSpPr/>
        <p:nvPr/>
      </p:nvGrpSpPr>
      <p:grpSpPr>
        <a:xfrm>
          <a:off x="0" y="0"/>
          <a:ext cx="0" cy="0"/>
          <a:chOff x="0" y="0"/>
          <a:chExt cx="0" cy="0"/>
        </a:xfrm>
      </p:grpSpPr>
      <p:sp>
        <p:nvSpPr>
          <p:cNvPr id="147" name="Google Shape;147;g37cec8a919b_0_35: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7cec8a919b_0_35: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2" name="Shape 152"/>
        <p:cNvGrpSpPr/>
        <p:nvPr/>
      </p:nvGrpSpPr>
      <p:grpSpPr>
        <a:xfrm>
          <a:off x="0" y="0"/>
          <a:ext cx="0" cy="0"/>
          <a:chOff x="0" y="0"/>
          <a:chExt cx="0" cy="0"/>
        </a:xfrm>
      </p:grpSpPr>
      <p:sp>
        <p:nvSpPr>
          <p:cNvPr id="153" name="Google Shape;153;g37cec8a919b_0_53: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7cec8a919b_0_53: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59" name="Shape 159"/>
        <p:cNvGrpSpPr/>
        <p:nvPr/>
      </p:nvGrpSpPr>
      <p:grpSpPr>
        <a:xfrm>
          <a:off x="0" y="0"/>
          <a:ext cx="0" cy="0"/>
          <a:chOff x="0" y="0"/>
          <a:chExt cx="0" cy="0"/>
        </a:xfrm>
      </p:grpSpPr>
      <p:sp>
        <p:nvSpPr>
          <p:cNvPr id="160" name="Google Shape;160;p12: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61" name="Google Shape;161;p12: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65" name="Shape 165"/>
        <p:cNvGrpSpPr/>
        <p:nvPr/>
      </p:nvGrpSpPr>
      <p:grpSpPr>
        <a:xfrm>
          <a:off x="0" y="0"/>
          <a:ext cx="0" cy="0"/>
          <a:chOff x="0" y="0"/>
          <a:chExt cx="0" cy="0"/>
        </a:xfrm>
      </p:grpSpPr>
      <p:sp>
        <p:nvSpPr>
          <p:cNvPr id="166" name="Google Shape;166;p16: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67" name="Google Shape;167;p16: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1" name="Shape 171"/>
        <p:cNvGrpSpPr/>
        <p:nvPr/>
      </p:nvGrpSpPr>
      <p:grpSpPr>
        <a:xfrm>
          <a:off x="0" y="0"/>
          <a:ext cx="0" cy="0"/>
          <a:chOff x="0" y="0"/>
          <a:chExt cx="0" cy="0"/>
        </a:xfrm>
      </p:grpSpPr>
      <p:sp>
        <p:nvSpPr>
          <p:cNvPr id="172" name="Google Shape;172;p17: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73" name="Google Shape;173;p17: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78" name="Shape 178"/>
        <p:cNvGrpSpPr/>
        <p:nvPr/>
      </p:nvGrpSpPr>
      <p:grpSpPr>
        <a:xfrm>
          <a:off x="0" y="0"/>
          <a:ext cx="0" cy="0"/>
          <a:chOff x="0" y="0"/>
          <a:chExt cx="0" cy="0"/>
        </a:xfrm>
      </p:grpSpPr>
      <p:sp>
        <p:nvSpPr>
          <p:cNvPr id="179" name="Google Shape;179;p18: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80" name="Google Shape;180;p18: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84" name="Shape 184"/>
        <p:cNvGrpSpPr/>
        <p:nvPr/>
      </p:nvGrpSpPr>
      <p:grpSpPr>
        <a:xfrm>
          <a:off x="0" y="0"/>
          <a:ext cx="0" cy="0"/>
          <a:chOff x="0" y="0"/>
          <a:chExt cx="0" cy="0"/>
        </a:xfrm>
      </p:grpSpPr>
      <p:sp>
        <p:nvSpPr>
          <p:cNvPr id="185" name="Google Shape;185;g37cec8a919b_0_14:notes"/>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37cec8a919b_0_1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90" name="Shape 190"/>
        <p:cNvGrpSpPr/>
        <p:nvPr/>
      </p:nvGrpSpPr>
      <p:grpSpPr>
        <a:xfrm>
          <a:off x="0" y="0"/>
          <a:ext cx="0" cy="0"/>
          <a:chOff x="0" y="0"/>
          <a:chExt cx="0" cy="0"/>
        </a:xfrm>
      </p:grpSpPr>
      <p:sp>
        <p:nvSpPr>
          <p:cNvPr id="191" name="Google Shape;191;p19:notes"/>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sz="1100"/>
          </a:p>
        </p:txBody>
      </p:sp>
      <p:sp>
        <p:nvSpPr>
          <p:cNvPr id="192" name="Google Shape;192;p19:notes"/>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3" name="Shape 13"/>
        <p:cNvGrpSpPr/>
        <p:nvPr/>
      </p:nvGrpSpPr>
      <p:grpSpPr>
        <a:xfrm>
          <a:off x="0" y="0"/>
          <a:ext cx="0" cy="0"/>
          <a:chOff x="0" y="0"/>
          <a:chExt cx="0" cy="0"/>
        </a:xfrm>
      </p:grpSpPr>
      <p:sp>
        <p:nvSpPr>
          <p:cNvPr id="14" name="Google Shape;14;p2"/>
          <p:cNvSpPr txBox="1"/>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panose="020B0604030504040204"/>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00"/>
              </a:spcBef>
              <a:spcAft>
                <a:spcPts val="0"/>
              </a:spcAft>
              <a:buClr>
                <a:srgbClr val="17365D"/>
              </a:buClr>
              <a:buSzPts val="2000"/>
              <a:buNone/>
              <a:defRPr sz="2000" b="1">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6" name="Google Shape;16;p2"/>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9" name="Shape 19"/>
        <p:cNvGrpSpPr/>
        <p:nvPr/>
      </p:nvGrpSpPr>
      <p:grpSpPr>
        <a:xfrm>
          <a:off x="0" y="0"/>
          <a:ext cx="0" cy="0"/>
          <a:chOff x="0" y="0"/>
          <a:chExt cx="0" cy="0"/>
        </a:xfrm>
      </p:grpSpPr>
      <p:sp>
        <p:nvSpPr>
          <p:cNvPr id="20" name="Google Shape;20;p3"/>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panose="020B0604030504040204"/>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a:solidFill>
                  <a:schemeClr val="dk1"/>
                </a:solidFill>
              </a:defRPr>
            </a:lvl1pPr>
            <a:lvl2pPr marL="914400" lvl="1" indent="-355600" algn="l">
              <a:lnSpc>
                <a:spcPct val="100000"/>
              </a:lnSpc>
              <a:spcBef>
                <a:spcPts val="400"/>
              </a:spcBef>
              <a:spcAft>
                <a:spcPts val="0"/>
              </a:spcAft>
              <a:buClr>
                <a:schemeClr val="dk1"/>
              </a:buClr>
              <a:buSzPts val="2000"/>
              <a:buChar char="–"/>
              <a:defRPr>
                <a:solidFill>
                  <a:schemeClr val="dk1"/>
                </a:solidFill>
              </a:defRPr>
            </a:lvl2pPr>
            <a:lvl3pPr marL="1371600" lvl="2" indent="-342900" algn="l">
              <a:lnSpc>
                <a:spcPct val="100000"/>
              </a:lnSpc>
              <a:spcBef>
                <a:spcPts val="360"/>
              </a:spcBef>
              <a:spcAft>
                <a:spcPts val="0"/>
              </a:spcAft>
              <a:buClr>
                <a:schemeClr val="dk1"/>
              </a:buClr>
              <a:buSzPts val="1800"/>
              <a:buChar char="•"/>
              <a:defRPr>
                <a:solidFill>
                  <a:schemeClr val="dk1"/>
                </a:solidFill>
              </a:defRPr>
            </a:lvl3pPr>
            <a:lvl4pPr marL="1828800" lvl="3" indent="-330200" algn="l">
              <a:lnSpc>
                <a:spcPct val="100000"/>
              </a:lnSpc>
              <a:spcBef>
                <a:spcPts val="320"/>
              </a:spcBef>
              <a:spcAft>
                <a:spcPts val="0"/>
              </a:spcAft>
              <a:buClr>
                <a:schemeClr val="dk1"/>
              </a:buClr>
              <a:buSzPts val="1600"/>
              <a:buChar char="–"/>
              <a:defRPr>
                <a:solidFill>
                  <a:schemeClr val="dk1"/>
                </a:solidFill>
              </a:defRPr>
            </a:lvl4pPr>
            <a:lvl5pPr marL="2286000" lvl="4" indent="-330200" algn="l">
              <a:lnSpc>
                <a:spcPct val="100000"/>
              </a:lnSpc>
              <a:spcBef>
                <a:spcPts val="320"/>
              </a:spcBef>
              <a:spcAft>
                <a:spcPts val="0"/>
              </a:spcAft>
              <a:buClr>
                <a:schemeClr val="dk1"/>
              </a:buClr>
              <a:buSzPts val="16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22" name="Google Shape;22;p3"/>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3"/>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25" name="Shape 25"/>
        <p:cNvGrpSpPr/>
        <p:nvPr/>
      </p:nvGrpSpPr>
      <p:grpSpPr>
        <a:xfrm>
          <a:off x="0" y="0"/>
          <a:ext cx="0" cy="0"/>
          <a:chOff x="0" y="0"/>
          <a:chExt cx="0" cy="0"/>
        </a:xfrm>
      </p:grpSpPr>
      <p:sp>
        <p:nvSpPr>
          <p:cNvPr id="26" name="Google Shape;26;p4"/>
          <p:cNvSpPr txBox="1"/>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FF0000"/>
              </a:buClr>
              <a:buSzPts val="4000"/>
              <a:buFont typeface="Verdana" panose="020B0604030504040204"/>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p:txBody>
      </p:sp>
      <p:sp>
        <p:nvSpPr>
          <p:cNvPr id="28" name="Google Shape;28;p4"/>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4"/>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4"/>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31" name="Shape 31"/>
        <p:cNvGrpSpPr/>
        <p:nvPr/>
      </p:nvGrpSpPr>
      <p:grpSpPr>
        <a:xfrm>
          <a:off x="0" y="0"/>
          <a:ext cx="0" cy="0"/>
          <a:chOff x="0" y="0"/>
          <a:chExt cx="0" cy="0"/>
        </a:xfrm>
      </p:grpSpPr>
      <p:sp>
        <p:nvSpPr>
          <p:cNvPr id="32" name="Google Shape;32;p5"/>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panose="020B0604030504040204"/>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type="body" idx="1"/>
          </p:nvPr>
        </p:nvSpPr>
        <p:spPr>
          <a:xfrm>
            <a:off x="609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4" name="Google Shape;34;p5"/>
          <p:cNvSpPr txBox="1"/>
          <p:nvPr>
            <p:ph type="body" idx="2"/>
          </p:nvPr>
        </p:nvSpPr>
        <p:spPr>
          <a:xfrm>
            <a:off x="6197600" y="1600203"/>
            <a:ext cx="5384700" cy="4526100"/>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p:txBody>
      </p:sp>
      <p:sp>
        <p:nvSpPr>
          <p:cNvPr id="35" name="Google Shape;35;p5"/>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5"/>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5"/>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38" name="Shape 38"/>
        <p:cNvGrpSpPr/>
        <p:nvPr/>
      </p:nvGrpSpPr>
      <p:grpSpPr>
        <a:xfrm>
          <a:off x="0" y="0"/>
          <a:ext cx="0" cy="0"/>
          <a:chOff x="0" y="0"/>
          <a:chExt cx="0" cy="0"/>
        </a:xfrm>
      </p:grpSpPr>
      <p:sp>
        <p:nvSpPr>
          <p:cNvPr id="39" name="Google Shape;39;p6"/>
          <p:cNvSpPr txBox="1"/>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panose="020B0604030504040204"/>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1" name="Google Shape;41;p6"/>
          <p:cNvSpPr txBox="1"/>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2" name="Google Shape;42;p6"/>
          <p:cNvSpPr txBox="1"/>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p:txBody>
      </p:sp>
      <p:sp>
        <p:nvSpPr>
          <p:cNvPr id="43" name="Google Shape;43;p6"/>
          <p:cNvSpPr txBox="1"/>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p:txBody>
      </p:sp>
      <p:sp>
        <p:nvSpPr>
          <p:cNvPr id="44" name="Google Shape;44;p6"/>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6"/>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6"/>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47" name="Shape 47"/>
        <p:cNvGrpSpPr/>
        <p:nvPr/>
      </p:nvGrpSpPr>
      <p:grpSpPr>
        <a:xfrm>
          <a:off x="0" y="0"/>
          <a:ext cx="0" cy="0"/>
          <a:chOff x="0" y="0"/>
          <a:chExt cx="0" cy="0"/>
        </a:xfrm>
      </p:grpSpPr>
      <p:sp>
        <p:nvSpPr>
          <p:cNvPr id="48" name="Google Shape;48;p7"/>
          <p:cNvSpPr txBox="1"/>
          <p:nvPr>
            <p:ph type="title"/>
          </p:nvPr>
        </p:nvSpPr>
        <p:spPr>
          <a:xfrm>
            <a:off x="3860800" y="274638"/>
            <a:ext cx="77217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7"/>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pic>
        <p:nvPicPr>
          <p:cNvPr id="52" name="Google Shape;52;p7" descr="C:\Users\AMMU\Desktop\Border.png"/>
          <p:cNvPicPr preferRelativeResize="0"/>
          <p:nvPr/>
        </p:nvPicPr>
        <p:blipFill rotWithShape="1">
          <a:blip r:embed="rId2"/>
          <a:srcRect/>
          <a:stretch>
            <a:fillRect/>
          </a:stretch>
        </p:blipFill>
        <p:spPr>
          <a:xfrm>
            <a:off x="2505209" y="139874"/>
            <a:ext cx="9686793" cy="69832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53" name="Shape 53"/>
        <p:cNvGrpSpPr/>
        <p:nvPr/>
      </p:nvGrpSpPr>
      <p:grpSpPr>
        <a:xfrm>
          <a:off x="0" y="0"/>
          <a:ext cx="0" cy="0"/>
          <a:chOff x="0" y="0"/>
          <a:chExt cx="0" cy="0"/>
        </a:xfrm>
      </p:grpSpPr>
      <p:sp>
        <p:nvSpPr>
          <p:cNvPr id="54" name="Google Shape;54;p8"/>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8"/>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8"/>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57" name="Shape 57"/>
        <p:cNvGrpSpPr/>
        <p:nvPr/>
      </p:nvGrpSpPr>
      <p:grpSpPr>
        <a:xfrm>
          <a:off x="0" y="0"/>
          <a:ext cx="0" cy="0"/>
          <a:chOff x="0" y="0"/>
          <a:chExt cx="0" cy="0"/>
        </a:xfrm>
      </p:grpSpPr>
      <p:sp>
        <p:nvSpPr>
          <p:cNvPr id="58" name="Google Shape;58;p9"/>
          <p:cNvSpPr txBox="1"/>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panose="020B060403050404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9"/>
          <p:cNvSpPr txBox="1"/>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p:txBody>
      </p:sp>
      <p:sp>
        <p:nvSpPr>
          <p:cNvPr id="60" name="Google Shape;60;p9"/>
          <p:cNvSpPr txBox="1"/>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1" name="Google Shape;61;p9"/>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9"/>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9"/>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64" name="Shape 64"/>
        <p:cNvGrpSpPr/>
        <p:nvPr/>
      </p:nvGrpSpPr>
      <p:grpSpPr>
        <a:xfrm>
          <a:off x="0" y="0"/>
          <a:ext cx="0" cy="0"/>
          <a:chOff x="0" y="0"/>
          <a:chExt cx="0" cy="0"/>
        </a:xfrm>
      </p:grpSpPr>
      <p:sp>
        <p:nvSpPr>
          <p:cNvPr id="65" name="Google Shape;65;p10"/>
          <p:cNvSpPr txBox="1"/>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panose="020B0604030504040204"/>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0"/>
          <p:cNvSpPr/>
          <p:nvPr>
            <p:ph type="pic" idx="2"/>
          </p:nvPr>
        </p:nvSpPr>
        <p:spPr>
          <a:xfrm>
            <a:off x="2389717" y="612775"/>
            <a:ext cx="7315200" cy="4114800"/>
          </a:xfrm>
          <a:prstGeom prst="rect">
            <a:avLst/>
          </a:prstGeom>
          <a:noFill/>
          <a:ln>
            <a:noFill/>
          </a:ln>
        </p:spPr>
      </p:sp>
      <p:sp>
        <p:nvSpPr>
          <p:cNvPr id="67" name="Google Shape;67;p10"/>
          <p:cNvSpPr txBox="1"/>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p:txBody>
      </p:sp>
      <p:sp>
        <p:nvSpPr>
          <p:cNvPr id="68" name="Google Shape;68;p10"/>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9" name="Google Shape;69;p10"/>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0"/>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71" name="Shape 71"/>
        <p:cNvGrpSpPr/>
        <p:nvPr/>
      </p:nvGrpSpPr>
      <p:grpSpPr>
        <a:xfrm>
          <a:off x="0" y="0"/>
          <a:ext cx="0" cy="0"/>
          <a:chOff x="0" y="0"/>
          <a:chExt cx="0" cy="0"/>
        </a:xfrm>
      </p:grpSpPr>
      <p:sp>
        <p:nvSpPr>
          <p:cNvPr id="72" name="Google Shape;72;p11"/>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74" name="Google Shape;74;p11"/>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1"/>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1"/>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77" name="Shape 77"/>
        <p:cNvGrpSpPr/>
        <p:nvPr/>
      </p:nvGrpSpPr>
      <p:grpSpPr>
        <a:xfrm>
          <a:off x="0" y="0"/>
          <a:ext cx="0" cy="0"/>
          <a:chOff x="0" y="0"/>
          <a:chExt cx="0" cy="0"/>
        </a:xfrm>
      </p:grpSpPr>
      <p:sp>
        <p:nvSpPr>
          <p:cNvPr id="78" name="Google Shape;78;p12"/>
          <p:cNvSpPr txBox="1"/>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p:txBody>
      </p:sp>
      <p:sp>
        <p:nvSpPr>
          <p:cNvPr id="80" name="Google Shape;80;p12"/>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2"/>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12"/>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matchingName="Title and Text">
  <p:cSld name="TITLE_AND_BODY">
    <p:spTree>
      <p:nvGrpSpPr>
        <p:cNvPr id="83" name="Shape 83"/>
        <p:cNvGrpSpPr/>
        <p:nvPr/>
      </p:nvGrpSpPr>
      <p:grpSpPr>
        <a:xfrm>
          <a:off x="0" y="0"/>
          <a:ext cx="0" cy="0"/>
          <a:chOff x="0" y="0"/>
          <a:chExt cx="0" cy="0"/>
        </a:xfrm>
      </p:grpSpPr>
      <p:sp>
        <p:nvSpPr>
          <p:cNvPr id="84" name="Google Shape;84;p13"/>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3"/>
          <p:cNvSpPr txBox="1"/>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SzPts val="2400"/>
              <a:buChar char="•"/>
              <a:defRPr/>
            </a:lvl1pPr>
            <a:lvl2pPr marL="914400" lvl="1" indent="-355600" algn="l">
              <a:lnSpc>
                <a:spcPct val="100000"/>
              </a:lnSpc>
              <a:spcBef>
                <a:spcPts val="400"/>
              </a:spcBef>
              <a:spcAft>
                <a:spcPts val="0"/>
              </a:spcAft>
              <a:buSzPts val="2000"/>
              <a:buChar char="–"/>
              <a:defRPr/>
            </a:lvl2pPr>
            <a:lvl3pPr marL="1371600" lvl="2" indent="-342900" algn="l">
              <a:lnSpc>
                <a:spcPct val="100000"/>
              </a:lnSpc>
              <a:spcBef>
                <a:spcPts val="360"/>
              </a:spcBef>
              <a:spcAft>
                <a:spcPts val="0"/>
              </a:spcAft>
              <a:buSzPts val="1800"/>
              <a:buChar char="•"/>
              <a:defRPr/>
            </a:lvl3pPr>
            <a:lvl4pPr marL="1828800" lvl="3" indent="-330200" algn="l">
              <a:lnSpc>
                <a:spcPct val="100000"/>
              </a:lnSpc>
              <a:spcBef>
                <a:spcPts val="320"/>
              </a:spcBef>
              <a:spcAft>
                <a:spcPts val="0"/>
              </a:spcAft>
              <a:buSzPts val="1600"/>
              <a:buChar char="–"/>
              <a:defRPr/>
            </a:lvl4pPr>
            <a:lvl5pPr marL="2286000" lvl="4" indent="-330200" algn="l">
              <a:lnSpc>
                <a:spcPct val="100000"/>
              </a:lnSpc>
              <a:spcBef>
                <a:spcPts val="320"/>
              </a:spcBef>
              <a:spcAft>
                <a:spcPts val="0"/>
              </a:spcAft>
              <a:buSzPts val="1600"/>
              <a:buChar char="»"/>
              <a:defRPr/>
            </a:lvl5pPr>
            <a:lvl6pPr marL="2743200" lvl="5" indent="-355600" algn="l">
              <a:lnSpc>
                <a:spcPct val="100000"/>
              </a:lnSpc>
              <a:spcBef>
                <a:spcPts val="400"/>
              </a:spcBef>
              <a:spcAft>
                <a:spcPts val="0"/>
              </a:spcAft>
              <a:buSzPts val="2000"/>
              <a:buChar char="•"/>
              <a:defRPr/>
            </a:lvl6pPr>
            <a:lvl7pPr marL="3200400" lvl="6" indent="-355600" algn="l">
              <a:lnSpc>
                <a:spcPct val="100000"/>
              </a:lnSpc>
              <a:spcBef>
                <a:spcPts val="400"/>
              </a:spcBef>
              <a:spcAft>
                <a:spcPts val="0"/>
              </a:spcAft>
              <a:buSzPts val="2000"/>
              <a:buChar char="•"/>
              <a:defRPr/>
            </a:lvl7pPr>
            <a:lvl8pPr marL="3657600" lvl="7" indent="-355600" algn="l">
              <a:lnSpc>
                <a:spcPct val="100000"/>
              </a:lnSpc>
              <a:spcBef>
                <a:spcPts val="400"/>
              </a:spcBef>
              <a:spcAft>
                <a:spcPts val="0"/>
              </a:spcAft>
              <a:buSzPts val="2000"/>
              <a:buChar char="•"/>
              <a:defRPr/>
            </a:lvl8pPr>
            <a:lvl9pPr marL="4114800" lvl="8" indent="-355600" algn="l">
              <a:lnSpc>
                <a:spcPct val="100000"/>
              </a:lnSpc>
              <a:spcBef>
                <a:spcPts val="400"/>
              </a:spcBef>
              <a:spcAft>
                <a:spcPts val="0"/>
              </a:spcAft>
              <a:buSzPts val="2000"/>
              <a:buChar char="•"/>
              <a:defRPr/>
            </a:lvl9pPr>
          </a:lstStyle>
          <a:p/>
        </p:txBody>
      </p:sp>
      <p:sp>
        <p:nvSpPr>
          <p:cNvPr id="86" name="Google Shape;86;p13"/>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3"/>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3"/>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1200"/>
              <a:buNone/>
              <a:defRPr/>
            </a:lvl1pPr>
            <a:lvl2pPr marL="0" lvl="1" indent="0" algn="r">
              <a:lnSpc>
                <a:spcPct val="100000"/>
              </a:lnSpc>
              <a:spcBef>
                <a:spcPts val="0"/>
              </a:spcBef>
              <a:spcAft>
                <a:spcPts val="0"/>
              </a:spcAft>
              <a:buSzPts val="1200"/>
              <a:buNone/>
              <a:defRPr/>
            </a:lvl2pPr>
            <a:lvl3pPr marL="0" lvl="2" indent="0" algn="r">
              <a:lnSpc>
                <a:spcPct val="100000"/>
              </a:lnSpc>
              <a:spcBef>
                <a:spcPts val="0"/>
              </a:spcBef>
              <a:spcAft>
                <a:spcPts val="0"/>
              </a:spcAft>
              <a:buSzPts val="1200"/>
              <a:buNone/>
              <a:defRPr/>
            </a:lvl3pPr>
            <a:lvl4pPr marL="0" lvl="3" indent="0" algn="r">
              <a:lnSpc>
                <a:spcPct val="100000"/>
              </a:lnSpc>
              <a:spcBef>
                <a:spcPts val="0"/>
              </a:spcBef>
              <a:spcAft>
                <a:spcPts val="0"/>
              </a:spcAft>
              <a:buSzPts val="1200"/>
              <a:buNone/>
              <a:defRPr/>
            </a:lvl4pPr>
            <a:lvl5pPr marL="0" lvl="4" indent="0" algn="r">
              <a:lnSpc>
                <a:spcPct val="100000"/>
              </a:lnSpc>
              <a:spcBef>
                <a:spcPts val="0"/>
              </a:spcBef>
              <a:spcAft>
                <a:spcPts val="0"/>
              </a:spcAft>
              <a:buSzPts val="1200"/>
              <a:buNone/>
              <a:defRPr/>
            </a:lvl5pPr>
            <a:lvl6pPr marL="0" lvl="5" indent="0" algn="r">
              <a:lnSpc>
                <a:spcPct val="100000"/>
              </a:lnSpc>
              <a:spcBef>
                <a:spcPts val="0"/>
              </a:spcBef>
              <a:spcAft>
                <a:spcPts val="0"/>
              </a:spcAft>
              <a:buSzPts val="1200"/>
              <a:buNone/>
              <a:defRPr/>
            </a:lvl6pPr>
            <a:lvl7pPr marL="0" lvl="6" indent="0" algn="r">
              <a:lnSpc>
                <a:spcPct val="100000"/>
              </a:lnSpc>
              <a:spcBef>
                <a:spcPts val="0"/>
              </a:spcBef>
              <a:spcAft>
                <a:spcPts val="0"/>
              </a:spcAft>
              <a:buSzPts val="1200"/>
              <a:buNone/>
              <a:defRPr/>
            </a:lvl7pPr>
            <a:lvl8pPr marL="0" lvl="7" indent="0" algn="r">
              <a:lnSpc>
                <a:spcPct val="100000"/>
              </a:lnSpc>
              <a:spcBef>
                <a:spcPts val="0"/>
              </a:spcBef>
              <a:spcAft>
                <a:spcPts val="0"/>
              </a:spcAft>
              <a:buSzPts val="1200"/>
              <a:buNone/>
              <a:defRPr/>
            </a:lvl8pPr>
            <a:lvl9pPr marL="0" lvl="8" indent="0" algn="r">
              <a:lnSpc>
                <a:spcPct val="100000"/>
              </a:lnSpc>
              <a:spcBef>
                <a:spcPts val="0"/>
              </a:spcBef>
              <a:spcAft>
                <a:spcPts val="0"/>
              </a:spcAft>
              <a:buSzPts val="1200"/>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FF0000"/>
              </a:buClr>
              <a:buSzPts val="2800"/>
              <a:buFont typeface="Verdana" panose="020B0604030504040204"/>
              <a:buNone/>
              <a:defRPr sz="2800" b="1" i="0" u="none" strike="noStrike" cap="none">
                <a:solidFill>
                  <a:srgbClr val="FF0000"/>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panose="020B0604020202020204"/>
              <a:buChar char="•"/>
              <a:defRPr sz="24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1pPr>
            <a:lvl2pPr marL="914400" marR="0" lvl="1"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2pPr>
            <a:lvl3pPr marL="1371600" marR="0" lvl="2" indent="-342900" algn="l" rtl="0">
              <a:lnSpc>
                <a:spcPct val="100000"/>
              </a:lnSpc>
              <a:spcBef>
                <a:spcPts val="360"/>
              </a:spcBef>
              <a:spcAft>
                <a:spcPts val="0"/>
              </a:spcAft>
              <a:buClr>
                <a:schemeClr val="dk1"/>
              </a:buClr>
              <a:buSzPts val="1800"/>
              <a:buFont typeface="Arial" panose="020B0604020202020204"/>
              <a:buChar char="•"/>
              <a:defRPr sz="18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3pPr>
            <a:lvl4pPr marL="1828800" marR="0" lvl="3"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4pPr>
            <a:lvl5pPr marL="2286000" marR="0" lvl="4" indent="-330200" algn="l" rtl="0">
              <a:lnSpc>
                <a:spcPct val="100000"/>
              </a:lnSpc>
              <a:spcBef>
                <a:spcPts val="320"/>
              </a:spcBef>
              <a:spcAft>
                <a:spcPts val="0"/>
              </a:spcAft>
              <a:buClr>
                <a:schemeClr val="dk1"/>
              </a:buClr>
              <a:buSzPts val="1600"/>
              <a:buFont typeface="Arial" panose="020B0604020202020204"/>
              <a:buChar char="»"/>
              <a:defRPr sz="1600" b="0" i="0" u="none" strike="noStrike" cap="none">
                <a:solidFill>
                  <a:schemeClr val="dk1"/>
                </a:solidFill>
                <a:latin typeface="Verdana" panose="020B0604030504040204"/>
                <a:ea typeface="Verdana" panose="020B0604030504040204"/>
                <a:cs typeface="Verdana" panose="020B0604030504040204"/>
                <a:sym typeface="Verdana" panose="020B0604030504040204"/>
              </a:defRPr>
            </a:lvl5pPr>
            <a:lvl6pPr marL="2743200" marR="0" lvl="5"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lnSpc>
                <a:spcPct val="100000"/>
              </a:lnSpc>
              <a:spcBef>
                <a:spcPts val="400"/>
              </a:spcBef>
              <a:spcAft>
                <a:spcPts val="0"/>
              </a:spcAft>
              <a:buClr>
                <a:schemeClr val="dk1"/>
              </a:buClr>
              <a:buSzPts val="2000"/>
              <a:buFont typeface="Arial" panose="020B0604020202020204"/>
              <a:buChar char="•"/>
              <a:defRPr sz="2000" b="0" i="0" u="none" strike="noStrike" cap="none">
                <a:solidFill>
                  <a:schemeClr val="dk1"/>
                </a:solidFill>
                <a:latin typeface="Bookman Old Style"/>
                <a:ea typeface="Bookman Old Style"/>
                <a:cs typeface="Bookman Old Style"/>
                <a:sym typeface="Bookman Old Style"/>
              </a:defRPr>
            </a:lvl9pPr>
          </a:lstStyle>
          <a:p/>
        </p:txBody>
      </p:sp>
      <p:sp>
        <p:nvSpPr>
          <p:cNvPr id="8" name="Google Shape;8;p1"/>
          <p:cNvSpPr txBox="1"/>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9" name="Google Shape;9;p1"/>
          <p:cNvSpPr txBox="1"/>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Bookman Old Style"/>
                <a:ea typeface="Bookman Old Style"/>
                <a:cs typeface="Bookman Old Style"/>
                <a:sym typeface="Bookman Old Style"/>
              </a:defRPr>
            </a:lvl9pPr>
          </a:lstStyle>
          <a:p/>
        </p:txBody>
      </p:sp>
      <p:sp>
        <p:nvSpPr>
          <p:cNvPr id="10" name="Google Shape;10;p1"/>
          <p:cNvSpPr txBox="1"/>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Verdana" panose="020B0604030504040204"/>
                <a:ea typeface="Verdana" panose="020B0604030504040204"/>
                <a:cs typeface="Verdana" panose="020B0604030504040204"/>
                <a:sym typeface="Verdana" panose="020B0604030504040204"/>
              </a:defRPr>
            </a:lvl9pPr>
          </a:lstStyle>
          <a:p>
            <a:pPr marL="0" lvl="0" indent="0" algn="r" rtl="0">
              <a:spcBef>
                <a:spcPts val="0"/>
              </a:spcBef>
              <a:spcAft>
                <a:spcPts val="0"/>
              </a:spcAft>
              <a:buNone/>
            </a:pPr>
            <a:fld id="{00000000-1234-1234-1234-123412341234}" type="slidenum">
              <a:rPr lang="en-US"/>
            </a:fld>
            <a:endParaRPr lang="en-US"/>
          </a:p>
        </p:txBody>
      </p:sp>
      <p:cxnSp>
        <p:nvCxnSpPr>
          <p:cNvPr id="11" name="Google Shape;11;p1"/>
          <p:cNvCxnSpPr/>
          <p:nvPr/>
        </p:nvCxnSpPr>
        <p:spPr>
          <a:xfrm>
            <a:off x="812800" y="914400"/>
            <a:ext cx="10668000" cy="0"/>
          </a:xfrm>
          <a:prstGeom prst="straightConnector1">
            <a:avLst/>
          </a:prstGeom>
          <a:noFill/>
          <a:ln w="57150" cap="flat" cmpd="thickThin">
            <a:solidFill>
              <a:schemeClr val="dk1"/>
            </a:solidFill>
            <a:prstDash val="solid"/>
            <a:round/>
            <a:headEnd type="none" w="sm" len="sm"/>
            <a:tailEnd type="none" w="sm" len="sm"/>
          </a:ln>
        </p:spPr>
      </p:cxnSp>
      <p:pic>
        <p:nvPicPr>
          <p:cNvPr id="12" name="Google Shape;12;p1"/>
          <p:cNvPicPr preferRelativeResize="0"/>
          <p:nvPr/>
        </p:nvPicPr>
        <p:blipFill rotWithShape="1">
          <a:blip r:embed="rId13"/>
          <a:srcRect b="18045"/>
          <a:stretch>
            <a:fillRect/>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hyperlink" Target="https://www.researchgate.net/publication/386423586" TargetMode="Externa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92" name="Shape 92"/>
        <p:cNvGrpSpPr/>
        <p:nvPr/>
      </p:nvGrpSpPr>
      <p:grpSpPr>
        <a:xfrm>
          <a:off x="0" y="0"/>
          <a:ext cx="0" cy="0"/>
          <a:chOff x="0" y="0"/>
          <a:chExt cx="0" cy="0"/>
        </a:xfrm>
      </p:grpSpPr>
      <p:sp>
        <p:nvSpPr>
          <p:cNvPr id="93" name="Google Shape;93;p14"/>
          <p:cNvSpPr txBox="1"/>
          <p:nvPr>
            <p:ph type="ctrTitle"/>
          </p:nvPr>
        </p:nvSpPr>
        <p:spPr>
          <a:xfrm>
            <a:off x="790469" y="1069102"/>
            <a:ext cx="10363200" cy="962898"/>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2800"/>
              <a:buNone/>
            </a:pPr>
            <a:r>
              <a:rPr lang="en-US" sz="2400">
                <a:solidFill>
                  <a:schemeClr val="dk1"/>
                </a:solidFill>
                <a:latin typeface="Cambria" panose="02040503050406030204"/>
                <a:ea typeface="Cambria" panose="02040503050406030204"/>
                <a:cs typeface="Cambria" panose="02040503050406030204"/>
                <a:sym typeface="Cambria" panose="02040503050406030204"/>
              </a:rPr>
              <a:t>PROJECT TITLE:</a:t>
            </a:r>
            <a:r>
              <a:rPr lang="en-US" sz="2400"/>
              <a:t> Mobile App For Direct Access For Farmers</a:t>
            </a:r>
            <a:endParaRPr sz="2400">
              <a:solidFill>
                <a:schemeClr val="dk1"/>
              </a:solidFill>
              <a:latin typeface="Cambria" panose="02040503050406030204"/>
              <a:ea typeface="Cambria" panose="02040503050406030204"/>
              <a:cs typeface="Cambria" panose="02040503050406030204"/>
              <a:sym typeface="Cambria" panose="02040503050406030204"/>
            </a:endParaRPr>
          </a:p>
        </p:txBody>
      </p:sp>
      <p:sp>
        <p:nvSpPr>
          <p:cNvPr id="94" name="Google Shape;94;p14"/>
          <p:cNvSpPr txBox="1"/>
          <p:nvPr>
            <p:ph type="subTitle" idx="1"/>
          </p:nvPr>
        </p:nvSpPr>
        <p:spPr>
          <a:xfrm>
            <a:off x="197506" y="2045352"/>
            <a:ext cx="4984094" cy="2488548"/>
          </a:xfrm>
          <a:prstGeom prst="rect">
            <a:avLst/>
          </a:prstGeom>
          <a:noFill/>
          <a:ln>
            <a:noFill/>
          </a:ln>
        </p:spPr>
        <p:txBody>
          <a:bodyPr spcFirstLastPara="1" wrap="square" lIns="91425" tIns="45700" rIns="91425" bIns="45700" anchor="t" anchorCtr="0">
            <a:normAutofit fontScale="77500" lnSpcReduction="10000"/>
          </a:bodyPr>
          <a:lstStyle/>
          <a:p>
            <a:pPr marL="457200" lvl="0" indent="-381000" algn="l" rtl="0">
              <a:lnSpc>
                <a:spcPct val="100000"/>
              </a:lnSpc>
              <a:spcBef>
                <a:spcPts val="400"/>
              </a:spcBef>
              <a:spcAft>
                <a:spcPts val="0"/>
              </a:spcAft>
              <a:buSzPct val="131000"/>
              <a:buNone/>
            </a:pPr>
            <a:r>
              <a:rPr lang="en-US" sz="1800">
                <a:solidFill>
                  <a:schemeClr val="dk2"/>
                </a:solidFill>
                <a:latin typeface="Verdana" panose="020B0604030504040204"/>
                <a:ea typeface="Verdana" panose="020B0604030504040204"/>
                <a:cs typeface="Verdana" panose="020B0604030504040204"/>
                <a:sym typeface="Verdana" panose="020B0604030504040204"/>
              </a:rPr>
              <a:t>Batch Number: COM_20</a:t>
            </a: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457200" lvl="0" indent="-381000" algn="l" rtl="0">
              <a:lnSpc>
                <a:spcPct val="100000"/>
              </a:lnSpc>
              <a:spcBef>
                <a:spcPts val="400"/>
              </a:spcBef>
              <a:spcAft>
                <a:spcPts val="0"/>
              </a:spcAft>
              <a:buSzPct val="131000"/>
              <a:buNone/>
            </a:pP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457200" lvl="0" indent="-381000" algn="l" rtl="0">
              <a:lnSpc>
                <a:spcPct val="100000"/>
              </a:lnSpc>
              <a:spcBef>
                <a:spcPts val="400"/>
              </a:spcBef>
              <a:spcAft>
                <a:spcPts val="0"/>
              </a:spcAft>
              <a:buSzPct val="131000"/>
              <a:buNone/>
            </a:pPr>
            <a:r>
              <a:rPr lang="en-US" sz="1800">
                <a:solidFill>
                  <a:schemeClr val="dk2"/>
                </a:solidFill>
                <a:latin typeface="Verdana" panose="020B0604030504040204"/>
                <a:ea typeface="Verdana" panose="020B0604030504040204"/>
                <a:cs typeface="Verdana" panose="020B0604030504040204"/>
                <a:sym typeface="Verdana" panose="020B0604030504040204"/>
              </a:rPr>
              <a:t>Roll no                           Student Name</a:t>
            </a: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457200" lvl="0" indent="-381000" algn="l" rtl="0">
              <a:lnSpc>
                <a:spcPct val="100000"/>
              </a:lnSpc>
              <a:spcBef>
                <a:spcPts val="400"/>
              </a:spcBef>
              <a:spcAft>
                <a:spcPts val="0"/>
              </a:spcAft>
              <a:buSzPct val="131000"/>
              <a:buNone/>
            </a:pP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457200" lvl="0" indent="-381000" algn="l" rtl="0">
              <a:lnSpc>
                <a:spcPct val="150000"/>
              </a:lnSpc>
              <a:spcBef>
                <a:spcPts val="400"/>
              </a:spcBef>
              <a:spcAft>
                <a:spcPts val="0"/>
              </a:spcAft>
              <a:buSzPct val="131000"/>
              <a:buNone/>
            </a:pPr>
            <a:r>
              <a:rPr lang="en-US" sz="1800">
                <a:solidFill>
                  <a:schemeClr val="dk2"/>
                </a:solidFill>
                <a:latin typeface="Verdana" panose="020B0604030504040204"/>
                <a:ea typeface="Verdana" panose="020B0604030504040204"/>
                <a:cs typeface="Verdana" panose="020B0604030504040204"/>
                <a:sym typeface="Verdana" panose="020B0604030504040204"/>
              </a:rPr>
              <a:t>20221COM009</a:t>
            </a:r>
            <a:r>
              <a:rPr lang="en-US" sz="1800">
                <a:solidFill>
                  <a:schemeClr val="dk2"/>
                </a:solidFill>
              </a:rPr>
              <a:t>7 </a:t>
            </a:r>
            <a:r>
              <a:rPr lang="en-US" sz="1800">
                <a:solidFill>
                  <a:schemeClr val="dk2"/>
                </a:solidFill>
                <a:latin typeface="Verdana" panose="020B0604030504040204"/>
                <a:ea typeface="Verdana" panose="020B0604030504040204"/>
                <a:cs typeface="Verdana" panose="020B0604030504040204"/>
                <a:sym typeface="Verdana" panose="020B0604030504040204"/>
              </a:rPr>
              <a:t>            ANUSH BG</a:t>
            </a: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457200" lvl="0" indent="-381000" algn="l" rtl="0">
              <a:lnSpc>
                <a:spcPct val="150000"/>
              </a:lnSpc>
              <a:spcBef>
                <a:spcPts val="400"/>
              </a:spcBef>
              <a:spcAft>
                <a:spcPts val="0"/>
              </a:spcAft>
              <a:buSzPct val="131000"/>
              <a:buNone/>
            </a:pPr>
            <a:r>
              <a:rPr lang="en-US" sz="1800">
                <a:solidFill>
                  <a:schemeClr val="dk2"/>
                </a:solidFill>
                <a:latin typeface="Verdana" panose="020B0604030504040204"/>
                <a:ea typeface="Verdana" panose="020B0604030504040204"/>
                <a:cs typeface="Verdana" panose="020B0604030504040204"/>
                <a:sym typeface="Verdana" panose="020B0604030504040204"/>
              </a:rPr>
              <a:t>20221COM0088             THANUSH G GOWDA</a:t>
            </a: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457200" lvl="0" indent="-381000" algn="l" rtl="0">
              <a:lnSpc>
                <a:spcPct val="150000"/>
              </a:lnSpc>
              <a:spcBef>
                <a:spcPts val="400"/>
              </a:spcBef>
              <a:spcAft>
                <a:spcPts val="0"/>
              </a:spcAft>
              <a:buSzPct val="131000"/>
              <a:buNone/>
            </a:pPr>
            <a:r>
              <a:rPr lang="en-US" sz="1800">
                <a:solidFill>
                  <a:schemeClr val="dk2"/>
                </a:solidFill>
                <a:latin typeface="Verdana" panose="020B0604030504040204"/>
                <a:ea typeface="Verdana" panose="020B0604030504040204"/>
                <a:cs typeface="Verdana" panose="020B0604030504040204"/>
                <a:sym typeface="Verdana" panose="020B0604030504040204"/>
              </a:rPr>
              <a:t>20221COM0204             ADARSHA DA</a:t>
            </a: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457200" lvl="0" indent="-381000" algn="l" rtl="0">
              <a:lnSpc>
                <a:spcPct val="100000"/>
              </a:lnSpc>
              <a:spcBef>
                <a:spcPts val="400"/>
              </a:spcBef>
              <a:spcAft>
                <a:spcPts val="0"/>
              </a:spcAft>
              <a:buSzPct val="131000"/>
              <a:buNone/>
            </a:pPr>
            <a:endParaRPr sz="1800">
              <a:solidFill>
                <a:schemeClr val="dk2"/>
              </a:solidFill>
              <a:latin typeface="Verdana" panose="020B0604030504040204"/>
              <a:ea typeface="Verdana" panose="020B0604030504040204"/>
              <a:cs typeface="Verdana" panose="020B0604030504040204"/>
              <a:sym typeface="Verdana" panose="020B0604030504040204"/>
            </a:endParaRPr>
          </a:p>
          <a:p>
            <a:pPr marL="0" lvl="0" indent="0" algn="l" rtl="0">
              <a:lnSpc>
                <a:spcPct val="100000"/>
              </a:lnSpc>
              <a:spcBef>
                <a:spcPts val="0"/>
              </a:spcBef>
              <a:spcAft>
                <a:spcPts val="0"/>
              </a:spcAft>
              <a:buClr>
                <a:srgbClr val="17365D"/>
              </a:buClr>
              <a:buSzPct val="131000"/>
              <a:buNone/>
            </a:pPr>
            <a:endParaRPr sz="1800">
              <a:latin typeface="Cambria" panose="02040503050406030204"/>
              <a:ea typeface="Cambria" panose="02040503050406030204"/>
              <a:cs typeface="Cambria" panose="02040503050406030204"/>
              <a:sym typeface="Cambria" panose="02040503050406030204"/>
            </a:endParaRPr>
          </a:p>
        </p:txBody>
      </p:sp>
      <p:sp>
        <p:nvSpPr>
          <p:cNvPr id="95" name="Google Shape;95;p14"/>
          <p:cNvSpPr txBox="1"/>
          <p:nvPr/>
        </p:nvSpPr>
        <p:spPr>
          <a:xfrm>
            <a:off x="6480195" y="2513340"/>
            <a:ext cx="5514300" cy="2020560"/>
          </a:xfrm>
          <a:prstGeom prst="rect">
            <a:avLst/>
          </a:prstGeom>
          <a:noFill/>
          <a:ln>
            <a:noFill/>
          </a:ln>
        </p:spPr>
        <p:txBody>
          <a:bodyPr spcFirstLastPara="1" wrap="square" lIns="91425" tIns="45700" rIns="91425" bIns="45700" anchor="t" anchorCtr="0">
            <a:normAutofit lnSpcReduction="20000"/>
          </a:bodyPr>
          <a:lstStyle/>
          <a:p>
            <a:pPr marL="0" marR="0" lvl="0" indent="0" algn="ctr" rtl="0">
              <a:lnSpc>
                <a:spcPct val="100000"/>
              </a:lnSpc>
              <a:spcBef>
                <a:spcPts val="0"/>
              </a:spcBef>
              <a:spcAft>
                <a:spcPts val="0"/>
              </a:spcAft>
              <a:buClr>
                <a:srgbClr val="17365D"/>
              </a:buClr>
              <a:buSzPts val="2000"/>
              <a:buFont typeface="Arial" panose="020B0604020202020204"/>
              <a:buNone/>
            </a:pPr>
            <a:r>
              <a:rPr lang="en-US" sz="1800" b="1" i="0" u="none" strike="noStrike" cap="none">
                <a:solidFill>
                  <a:srgbClr val="17365D"/>
                </a:solidFill>
                <a:latin typeface="Cambria" panose="02040503050406030204"/>
                <a:ea typeface="Cambria" panose="02040503050406030204"/>
                <a:cs typeface="Cambria" panose="02040503050406030204"/>
                <a:sym typeface="Cambria" panose="02040503050406030204"/>
              </a:rPr>
              <a:t>Under the Supervision of,</a:t>
            </a:r>
            <a:endParaRPr sz="18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100000"/>
              </a:lnSpc>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40"/>
              </a:spcBef>
              <a:spcAft>
                <a:spcPts val="0"/>
              </a:spcAft>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Dr.</a:t>
            </a:r>
            <a:r>
              <a:rPr lang="en-US" sz="1400" b="1" i="0" u="none" strike="noStrike" cap="none">
                <a:solidFill>
                  <a:srgbClr val="17365D"/>
                </a:solidFill>
                <a:latin typeface="Cambria" panose="02040503050406030204"/>
                <a:ea typeface="Cambria" panose="02040503050406030204"/>
                <a:cs typeface="Cambria" panose="02040503050406030204"/>
                <a:sym typeface="Cambria" panose="02040503050406030204"/>
              </a:rPr>
              <a:t> </a:t>
            </a:r>
            <a:r>
              <a:rPr lang="en-US" sz="1600" b="1" i="0" u="none" strike="noStrike" cap="none">
                <a:solidFill>
                  <a:srgbClr val="17365D"/>
                </a:solidFill>
                <a:latin typeface="Cambria" panose="02040503050406030204"/>
                <a:ea typeface="Cambria" panose="02040503050406030204"/>
                <a:cs typeface="Cambria" panose="02040503050406030204"/>
                <a:sym typeface="Cambria" panose="02040503050406030204"/>
              </a:rPr>
              <a:t>Sudha P</a:t>
            </a:r>
            <a:endParaRPr sz="16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40"/>
              </a:spcBef>
              <a:spcAft>
                <a:spcPts val="0"/>
              </a:spcAft>
              <a:buClr>
                <a:srgbClr val="17365D"/>
              </a:buClr>
              <a:buSzPts val="1700"/>
              <a:buFont typeface="Arial" panose="020B0604020202020204"/>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Associate Professor </a:t>
            </a:r>
            <a:endParaRPr sz="1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40"/>
              </a:spcBef>
              <a:spcAft>
                <a:spcPts val="0"/>
              </a:spcAft>
              <a:buClr>
                <a:srgbClr val="17365D"/>
              </a:buClr>
              <a:buSzPts val="1700"/>
              <a:buFont typeface="Arial" panose="020B0604020202020204"/>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School of Computer Science and Engineering</a:t>
            </a:r>
            <a:endParaRPr sz="1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340"/>
              </a:spcBef>
              <a:spcAft>
                <a:spcPts val="0"/>
              </a:spcAft>
              <a:buClr>
                <a:srgbClr val="17365D"/>
              </a:buClr>
              <a:buSzPts val="1700"/>
              <a:buFont typeface="Arial" panose="020B0604020202020204"/>
              <a:buNone/>
            </a:pPr>
            <a:r>
              <a:rPr lang="en-US" sz="1700" b="1" i="0" u="none" strike="noStrike" cap="none">
                <a:solidFill>
                  <a:srgbClr val="17365D"/>
                </a:solidFill>
                <a:latin typeface="Cambria" panose="02040503050406030204"/>
                <a:ea typeface="Cambria" panose="02040503050406030204"/>
                <a:cs typeface="Cambria" panose="02040503050406030204"/>
                <a:sym typeface="Cambria" panose="02040503050406030204"/>
              </a:rPr>
              <a:t>Presidency University</a:t>
            </a:r>
            <a:endParaRPr sz="14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400"/>
              </a:spcBef>
              <a:spcAft>
                <a:spcPts val="0"/>
              </a:spcAft>
              <a:buClr>
                <a:srgbClr val="17365D"/>
              </a:buClr>
              <a:buSzPts val="2000"/>
              <a:buFont typeface="Arial" panose="020B0604020202020204"/>
              <a:buNone/>
            </a:pPr>
            <a:endParaRPr sz="2000" b="1" i="0" u="none" strike="noStrike" cap="none">
              <a:solidFill>
                <a:srgbClr val="17365D"/>
              </a:solidFill>
              <a:latin typeface="Cambria" panose="02040503050406030204"/>
              <a:ea typeface="Cambria" panose="02040503050406030204"/>
              <a:cs typeface="Cambria" panose="02040503050406030204"/>
              <a:sym typeface="Cambria" panose="02040503050406030204"/>
            </a:endParaRPr>
          </a:p>
        </p:txBody>
      </p:sp>
      <p:sp>
        <p:nvSpPr>
          <p:cNvPr id="96" name="Google Shape;96;p14"/>
          <p:cNvSpPr txBox="1"/>
          <p:nvPr/>
        </p:nvSpPr>
        <p:spPr>
          <a:xfrm>
            <a:off x="2832225" y="136441"/>
            <a:ext cx="5498973" cy="72937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17365D"/>
              </a:buClr>
              <a:buSzPts val="1800"/>
              <a:buFont typeface="Arial" panose="020B0604020202020204"/>
              <a:buNone/>
            </a:pPr>
            <a:r>
              <a:rPr lang="en-US" sz="1800" b="1" i="0" u="none" strike="noStrike" cap="none">
                <a:solidFill>
                  <a:srgbClr val="17365D"/>
                </a:solidFill>
                <a:latin typeface="Cambria" panose="02040503050406030204"/>
                <a:ea typeface="Cambria" panose="02040503050406030204"/>
                <a:cs typeface="Cambria" panose="02040503050406030204"/>
                <a:sym typeface="Cambria" panose="02040503050406030204"/>
              </a:rPr>
              <a:t>CSE7101- Capstone Project</a:t>
            </a:r>
            <a:endParaRPr sz="1800" b="0" i="0" u="none" strike="noStrike" cap="none">
              <a:solidFill>
                <a:srgbClr val="000000"/>
              </a:solidFill>
              <a:latin typeface="Cambria" panose="02040503050406030204"/>
              <a:ea typeface="Cambria" panose="02040503050406030204"/>
              <a:cs typeface="Cambria" panose="02040503050406030204"/>
              <a:sym typeface="Cambria" panose="02040503050406030204"/>
            </a:endParaRPr>
          </a:p>
          <a:p>
            <a:pPr marL="0" marR="0" lvl="0" indent="0" algn="ctr" rtl="0">
              <a:lnSpc>
                <a:spcPct val="100000"/>
              </a:lnSpc>
              <a:spcBef>
                <a:spcPts val="310"/>
              </a:spcBef>
              <a:spcAft>
                <a:spcPts val="0"/>
              </a:spcAft>
              <a:buClr>
                <a:srgbClr val="17365D"/>
              </a:buClr>
              <a:buSzPts val="1800"/>
              <a:buFont typeface="Arial" panose="020B0604020202020204"/>
              <a:buNone/>
            </a:pPr>
            <a:r>
              <a:rPr lang="en-US" sz="1800" b="1" i="0" u="none" strike="noStrike" cap="none">
                <a:solidFill>
                  <a:srgbClr val="17365D"/>
                </a:solidFill>
                <a:latin typeface="Cambria" panose="02040503050406030204"/>
                <a:ea typeface="Cambria" panose="02040503050406030204"/>
                <a:cs typeface="Cambria" panose="02040503050406030204"/>
                <a:sym typeface="Cambria" panose="02040503050406030204"/>
              </a:rPr>
              <a:t>Review-</a:t>
            </a:r>
            <a:r>
              <a:rPr lang="en-US" sz="1800" b="1">
                <a:solidFill>
                  <a:srgbClr val="17365D"/>
                </a:solidFill>
                <a:latin typeface="Cambria" panose="02040503050406030204"/>
                <a:ea typeface="Cambria" panose="02040503050406030204"/>
                <a:cs typeface="Cambria" panose="02040503050406030204"/>
                <a:sym typeface="Cambria" panose="02040503050406030204"/>
              </a:rPr>
              <a:t>2</a:t>
            </a:r>
            <a:endParaRPr sz="1800" b="1" i="0" u="none" strike="noStrike" cap="none">
              <a:solidFill>
                <a:srgbClr val="17365D"/>
              </a:solidFill>
              <a:latin typeface="Cambria" panose="02040503050406030204"/>
              <a:ea typeface="Cambria" panose="02040503050406030204"/>
              <a:cs typeface="Cambria" panose="02040503050406030204"/>
              <a:sym typeface="Cambria" panose="02040503050406030204"/>
            </a:endParaRPr>
          </a:p>
        </p:txBody>
      </p:sp>
      <p:sp>
        <p:nvSpPr>
          <p:cNvPr id="97" name="Google Shape;97;p14"/>
          <p:cNvSpPr txBox="1"/>
          <p:nvPr/>
        </p:nvSpPr>
        <p:spPr>
          <a:xfrm>
            <a:off x="0" y="4826000"/>
            <a:ext cx="12249915" cy="126999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8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Program: </a:t>
            </a:r>
            <a:r>
              <a:rPr lang="en-US" sz="1800" b="1" i="0" u="none" strike="noStrike" cap="none">
                <a:solidFill>
                  <a:srgbClr val="FF0000"/>
                </a:solidFill>
                <a:latin typeface="Arial" panose="020B0604020202020204"/>
                <a:ea typeface="Arial" panose="020B0604020202020204"/>
                <a:cs typeface="Arial" panose="020B0604020202020204"/>
                <a:sym typeface="Arial" panose="020B0604020202020204"/>
              </a:rPr>
              <a:t>B.Tech. Computer Engineering (Artificial Intelligence And Machine Learning)</a:t>
            </a:r>
            <a:endParaRPr sz="1800" b="1" i="0" u="none" strike="noStrike" cap="none">
              <a:solidFill>
                <a:schemeClr val="accent1"/>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Clr>
                <a:srgbClr val="17365D"/>
              </a:buClr>
              <a:buSzPts val="1800"/>
              <a:buFont typeface="Arial" panose="020B0604020202020204"/>
              <a:buNone/>
            </a:pPr>
            <a:r>
              <a:rPr lang="en-US" sz="18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HoD: </a:t>
            </a:r>
            <a:r>
              <a:rPr lang="en-US" sz="1800" b="1" i="0" u="none" strike="noStrike" cap="none">
                <a:solidFill>
                  <a:srgbClr val="FF0000"/>
                </a:solidFill>
                <a:latin typeface="Cambria" panose="02040503050406030204"/>
                <a:ea typeface="Cambria" panose="02040503050406030204"/>
                <a:cs typeface="Cambria" panose="02040503050406030204"/>
                <a:sym typeface="Cambria" panose="02040503050406030204"/>
              </a:rPr>
              <a:t>Dr Pallavi R</a:t>
            </a:r>
            <a:endParaRPr sz="1800" b="1" i="0" u="none" strike="noStrike" cap="none">
              <a:solidFill>
                <a:srgbClr val="FF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Program Project Coordinator: </a:t>
            </a:r>
            <a:r>
              <a:rPr lang="en-US" sz="1800" b="1" i="0" u="none" strike="noStrike" cap="none">
                <a:solidFill>
                  <a:srgbClr val="FF0000"/>
                </a:solidFill>
                <a:latin typeface="Cambria" panose="02040503050406030204"/>
                <a:ea typeface="Cambria" panose="02040503050406030204"/>
                <a:cs typeface="Cambria" panose="02040503050406030204"/>
                <a:sym typeface="Cambria" panose="02040503050406030204"/>
              </a:rPr>
              <a:t>Ms. Benitha Christinal J</a:t>
            </a:r>
            <a:endParaRPr sz="1800" b="1" i="0" u="none" strike="noStrike" cap="none">
              <a:solidFill>
                <a:srgbClr val="FF0000"/>
              </a:solidFill>
              <a:latin typeface="Cambria" panose="02040503050406030204"/>
              <a:ea typeface="Cambria" panose="02040503050406030204"/>
              <a:cs typeface="Cambria" panose="02040503050406030204"/>
              <a:sym typeface="Cambria" panose="02040503050406030204"/>
            </a:endParaRPr>
          </a:p>
          <a:p>
            <a:pPr marL="0" marR="0" lvl="0" indent="0" algn="l" rtl="0">
              <a:lnSpc>
                <a:spcPct val="100000"/>
              </a:lnSpc>
              <a:spcBef>
                <a:spcPts val="0"/>
              </a:spcBef>
              <a:spcAft>
                <a:spcPts val="0"/>
              </a:spcAft>
              <a:buNone/>
            </a:pPr>
            <a:r>
              <a:rPr lang="en-US" sz="1800" b="1" i="0" u="none" strike="noStrike" cap="none">
                <a:solidFill>
                  <a:schemeClr val="accent1"/>
                </a:solidFill>
                <a:latin typeface="Cambria" panose="02040503050406030204"/>
                <a:ea typeface="Cambria" panose="02040503050406030204"/>
                <a:cs typeface="Cambria" panose="02040503050406030204"/>
                <a:sym typeface="Cambria" panose="02040503050406030204"/>
              </a:rPr>
              <a:t>Name of the School Project Coordinators: </a:t>
            </a:r>
            <a:r>
              <a:rPr lang="en-US" sz="1800" b="1" i="0" u="none" strike="noStrike" cap="none">
                <a:solidFill>
                  <a:schemeClr val="dk1"/>
                </a:solidFill>
                <a:latin typeface="Cambria" panose="02040503050406030204"/>
                <a:ea typeface="Cambria" panose="02040503050406030204"/>
                <a:cs typeface="Cambria" panose="02040503050406030204"/>
                <a:sym typeface="Cambria" panose="02040503050406030204"/>
              </a:rPr>
              <a:t>Dr. Sampath A K , Dr. Geetha A </a:t>
            </a:r>
            <a:endParaRPr sz="1800" b="1" i="0" u="none" strike="noStrike" cap="none">
              <a:solidFill>
                <a:schemeClr val="dk1"/>
              </a:solidFill>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01" name="Shape 101"/>
        <p:cNvGrpSpPr/>
        <p:nvPr/>
      </p:nvGrpSpPr>
      <p:grpSpPr>
        <a:xfrm>
          <a:off x="0" y="0"/>
          <a:ext cx="0" cy="0"/>
          <a:chOff x="0" y="0"/>
          <a:chExt cx="0" cy="0"/>
        </a:xfrm>
      </p:grpSpPr>
      <p:sp>
        <p:nvSpPr>
          <p:cNvPr id="102" name="Google Shape;102;p15"/>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latin typeface="Cambria" panose="02040503050406030204"/>
                <a:ea typeface="Cambria" panose="02040503050406030204"/>
                <a:cs typeface="Cambria" panose="02040503050406030204"/>
                <a:sym typeface="Cambria" panose="02040503050406030204"/>
              </a:rPr>
              <a:t>Content</a:t>
            </a:r>
            <a:endParaRPr>
              <a:latin typeface="Cambria" panose="02040503050406030204"/>
              <a:ea typeface="Cambria" panose="02040503050406030204"/>
              <a:cs typeface="Cambria" panose="02040503050406030204"/>
              <a:sym typeface="Cambria" panose="02040503050406030204"/>
            </a:endParaRPr>
          </a:p>
        </p:txBody>
      </p:sp>
      <p:sp>
        <p:nvSpPr>
          <p:cNvPr id="103" name="Google Shape;103;p15"/>
          <p:cNvSpPr txBox="1"/>
          <p:nvPr>
            <p:ph type="body" idx="1"/>
          </p:nvPr>
        </p:nvSpPr>
        <p:spPr>
          <a:xfrm>
            <a:off x="655775" y="991900"/>
            <a:ext cx="10668000" cy="4398600"/>
          </a:xfrm>
          <a:prstGeom prst="rect">
            <a:avLst/>
          </a:prstGeom>
          <a:noFill/>
          <a:ln>
            <a:noFill/>
          </a:ln>
        </p:spPr>
        <p:txBody>
          <a:bodyPr spcFirstLastPara="1" wrap="square" lIns="91425" tIns="45700" rIns="91425" bIns="45700" anchor="t" anchorCtr="0">
            <a:noAutofit/>
          </a:bodyPr>
          <a:lstStyle/>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Problem Statement &amp; Number</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Abstract</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Literature Survey</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Objectives</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Existing Methods and Drawbacks</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Proposed Method &amp; Feasibility Study</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Architecture Diagram</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Modules</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Hardware and Software Details</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Timeline (Gantt Chart)</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r>
              <a:rPr lang="en-US" sz="1500">
                <a:latin typeface="Cambria" panose="02040503050406030204"/>
                <a:ea typeface="Cambria" panose="02040503050406030204"/>
                <a:cs typeface="Cambria" panose="02040503050406030204"/>
                <a:sym typeface="Cambria" panose="02040503050406030204"/>
              </a:rPr>
              <a:t>References</a:t>
            </a: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1100"/>
              <a:buFont typeface="Arial" panose="020B0604020202020204"/>
              <a:buNone/>
            </a:pPr>
            <a:endParaRPr sz="1500">
              <a:latin typeface="Cambria" panose="02040503050406030204"/>
              <a:ea typeface="Cambria" panose="02040503050406030204"/>
              <a:cs typeface="Cambria" panose="02040503050406030204"/>
              <a:sym typeface="Cambria" panose="02040503050406030204"/>
            </a:endParaRPr>
          </a:p>
          <a:p>
            <a:pPr marL="495300" lvl="0" indent="-190500" algn="just" rtl="0">
              <a:lnSpc>
                <a:spcPct val="200000"/>
              </a:lnSpc>
              <a:spcBef>
                <a:spcPts val="0"/>
              </a:spcBef>
              <a:spcAft>
                <a:spcPts val="0"/>
              </a:spcAft>
              <a:buClr>
                <a:schemeClr val="dk1"/>
              </a:buClr>
              <a:buSzPts val="2400"/>
              <a:buFont typeface="Noto Sans Symbols"/>
              <a:buNone/>
            </a:pPr>
            <a:endParaRPr sz="15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07" name="Shape 107"/>
        <p:cNvGrpSpPr/>
        <p:nvPr/>
      </p:nvGrpSpPr>
      <p:grpSpPr>
        <a:xfrm>
          <a:off x="0" y="0"/>
          <a:ext cx="0" cy="0"/>
          <a:chOff x="0" y="0"/>
          <a:chExt cx="0" cy="0"/>
        </a:xfrm>
      </p:grpSpPr>
      <p:sp>
        <p:nvSpPr>
          <p:cNvPr id="108" name="Google Shape;108;p16"/>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latin typeface="Cambria" panose="02040503050406030204"/>
                <a:ea typeface="Cambria" panose="02040503050406030204"/>
                <a:cs typeface="Cambria" panose="02040503050406030204"/>
                <a:sym typeface="Cambria" panose="02040503050406030204"/>
              </a:rPr>
              <a:t>Problem Statement Number: PSCS_281 </a:t>
            </a:r>
            <a:endParaRPr>
              <a:latin typeface="Cambria" panose="02040503050406030204"/>
              <a:ea typeface="Cambria" panose="02040503050406030204"/>
              <a:cs typeface="Cambria" panose="02040503050406030204"/>
              <a:sym typeface="Cambria" panose="02040503050406030204"/>
            </a:endParaRPr>
          </a:p>
        </p:txBody>
      </p:sp>
      <p:sp>
        <p:nvSpPr>
          <p:cNvPr id="109" name="Google Shape;109;p16"/>
          <p:cNvSpPr txBox="1"/>
          <p:nvPr>
            <p:ph type="body" idx="1"/>
          </p:nvPr>
        </p:nvSpPr>
        <p:spPr>
          <a:xfrm>
            <a:off x="170475" y="1143000"/>
            <a:ext cx="11310300" cy="4953000"/>
          </a:xfrm>
          <a:prstGeom prst="rect">
            <a:avLst/>
          </a:prstGeom>
          <a:noFill/>
          <a:ln>
            <a:noFill/>
          </a:ln>
        </p:spPr>
        <p:txBody>
          <a:bodyPr spcFirstLastPara="1" wrap="square" lIns="91425" tIns="45700" rIns="91425" bIns="45700" anchor="t" anchorCtr="0">
            <a:normAutofit/>
          </a:bodyPr>
          <a:lstStyle/>
          <a:p>
            <a:pPr marL="342900" lvl="0" indent="-190500" algn="just" rtl="0">
              <a:lnSpc>
                <a:spcPct val="100000"/>
              </a:lnSpc>
              <a:spcBef>
                <a:spcPts val="0"/>
              </a:spcBef>
              <a:spcAft>
                <a:spcPts val="0"/>
              </a:spcAft>
              <a:buSzPts val="2400"/>
              <a:buNone/>
            </a:pPr>
            <a:r>
              <a:rPr lang="en-US" sz="2300">
                <a:latin typeface="Cambria" panose="02040503050406030204"/>
                <a:ea typeface="Cambria" panose="02040503050406030204"/>
                <a:cs typeface="Cambria" panose="02040503050406030204"/>
                <a:sym typeface="Cambria" panose="02040503050406030204"/>
              </a:rPr>
              <a:t>Organization: </a:t>
            </a:r>
            <a:r>
              <a:rPr lang="en-US" sz="2300" b="1">
                <a:latin typeface="Cambria" panose="02040503050406030204"/>
                <a:ea typeface="Cambria" panose="02040503050406030204"/>
                <a:cs typeface="Cambria" panose="02040503050406030204"/>
                <a:sym typeface="Cambria" panose="02040503050406030204"/>
              </a:rPr>
              <a:t>Ministry of Agriculture And Farmers Welfare</a:t>
            </a:r>
            <a:endParaRPr sz="2300" b="1">
              <a:latin typeface="Cambria" panose="02040503050406030204"/>
              <a:ea typeface="Cambria" panose="02040503050406030204"/>
              <a:cs typeface="Cambria" panose="02040503050406030204"/>
              <a:sym typeface="Cambria" panose="02040503050406030204"/>
            </a:endParaRPr>
          </a:p>
          <a:p>
            <a:pPr marL="342900" lvl="0" indent="-190500" algn="just" rtl="0">
              <a:lnSpc>
                <a:spcPct val="100000"/>
              </a:lnSpc>
              <a:spcBef>
                <a:spcPts val="0"/>
              </a:spcBef>
              <a:spcAft>
                <a:spcPts val="0"/>
              </a:spcAft>
              <a:buSzPts val="2400"/>
              <a:buNone/>
            </a:pPr>
            <a:endParaRPr sz="2300" b="1">
              <a:latin typeface="Cambria" panose="02040503050406030204"/>
              <a:ea typeface="Cambria" panose="02040503050406030204"/>
              <a:cs typeface="Cambria" panose="02040503050406030204"/>
              <a:sym typeface="Cambria" panose="02040503050406030204"/>
            </a:endParaRPr>
          </a:p>
          <a:p>
            <a:pPr marL="152400" lvl="0" indent="0" algn="just" rtl="0">
              <a:lnSpc>
                <a:spcPct val="200000"/>
              </a:lnSpc>
              <a:spcBef>
                <a:spcPts val="0"/>
              </a:spcBef>
              <a:spcAft>
                <a:spcPts val="0"/>
              </a:spcAft>
              <a:buSzPts val="2400"/>
              <a:buNone/>
            </a:pPr>
            <a:r>
              <a:rPr lang="en-US" sz="2300">
                <a:latin typeface="Cambria" panose="02040503050406030204"/>
                <a:ea typeface="Cambria" panose="02040503050406030204"/>
                <a:cs typeface="Cambria" panose="02040503050406030204"/>
                <a:sym typeface="Cambria" panose="02040503050406030204"/>
              </a:rPr>
              <a:t>Category :</a:t>
            </a:r>
            <a:r>
              <a:rPr lang="en-US" sz="2300" b="1">
                <a:latin typeface="Cambria" panose="02040503050406030204"/>
                <a:ea typeface="Cambria" panose="02040503050406030204"/>
                <a:cs typeface="Cambria" panose="02040503050406030204"/>
                <a:sym typeface="Cambria" panose="02040503050406030204"/>
              </a:rPr>
              <a:t>Software  </a:t>
            </a:r>
            <a:endParaRPr sz="2300" b="1">
              <a:latin typeface="Cambria" panose="02040503050406030204"/>
              <a:ea typeface="Cambria" panose="02040503050406030204"/>
              <a:cs typeface="Cambria" panose="02040503050406030204"/>
              <a:sym typeface="Cambria" panose="02040503050406030204"/>
            </a:endParaRPr>
          </a:p>
          <a:p>
            <a:pPr marL="342900" lvl="0" indent="-190500" algn="just" rtl="0">
              <a:lnSpc>
                <a:spcPct val="150000"/>
              </a:lnSpc>
              <a:spcBef>
                <a:spcPts val="0"/>
              </a:spcBef>
              <a:spcAft>
                <a:spcPts val="0"/>
              </a:spcAft>
              <a:buSzPts val="2400"/>
              <a:buNone/>
            </a:pPr>
            <a:r>
              <a:rPr lang="en-US" sz="2100" b="1">
                <a:latin typeface="Cambria" panose="02040503050406030204"/>
                <a:ea typeface="Cambria" panose="02040503050406030204"/>
                <a:cs typeface="Cambria" panose="02040503050406030204"/>
                <a:sym typeface="Cambria" panose="02040503050406030204"/>
              </a:rPr>
              <a:t>Problem Description : </a:t>
            </a:r>
            <a:r>
              <a:rPr lang="en-US" sz="1700"/>
              <a:t>Background: Farmers often face challenges in accessing markets, leading to lower income due to middlemen. This gap restricts their ability to sell produce at fair prices. Description: Create a mobile application that connects farmers directly with consumers and retailers. The app should include features for listing produce, negotiating prices, and managing transactions, thereby reducing dependence on intermediaries. Expected Solution: A user-friendly mobile platform that enables farmers to showcase their products and connect with buyers directly, enhancing their income potential.</a:t>
            </a:r>
            <a:endParaRPr sz="17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13" name="Shape 113"/>
        <p:cNvGrpSpPr/>
        <p:nvPr/>
      </p:nvGrpSpPr>
      <p:grpSpPr>
        <a:xfrm>
          <a:off x="0" y="0"/>
          <a:ext cx="0" cy="0"/>
          <a:chOff x="0" y="0"/>
          <a:chExt cx="0" cy="0"/>
        </a:xfrm>
      </p:grpSpPr>
      <p:sp>
        <p:nvSpPr>
          <p:cNvPr id="114" name="Google Shape;114;p17"/>
          <p:cNvSpPr txBox="1"/>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Abstract</a:t>
            </a:r>
            <a:endParaRPr lang="en-US"/>
          </a:p>
        </p:txBody>
      </p:sp>
      <p:sp>
        <p:nvSpPr>
          <p:cNvPr id="115" name="Google Shape;115;p17"/>
          <p:cNvSpPr txBox="1"/>
          <p:nvPr>
            <p:ph type="body" idx="1"/>
          </p:nvPr>
        </p:nvSpPr>
        <p:spPr>
          <a:xfrm>
            <a:off x="812800" y="1143001"/>
            <a:ext cx="10668000" cy="4953000"/>
          </a:xfrm>
          <a:prstGeom prst="rect">
            <a:avLst/>
          </a:prstGeom>
        </p:spPr>
        <p:txBody>
          <a:bodyPr spcFirstLastPara="1" wrap="square" lIns="91425" tIns="45700" rIns="91425" bIns="45700" anchor="t" anchorCtr="0">
            <a:no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700">
                <a:latin typeface="Arial" panose="020B0604020202020204"/>
                <a:ea typeface="Arial" panose="020B0604020202020204"/>
                <a:cs typeface="Arial" panose="020B0604020202020204"/>
                <a:sym typeface="Arial" panose="020B0604020202020204"/>
              </a:rPr>
              <a:t>The agricultural sector in India faces persistent challenges due to farmers’ dependence on intermediaries for marketing produce. This reliance reduces profit margins and limits transparency in transactions. To overcome these issues, the proposed project, under the </a:t>
            </a:r>
            <a:r>
              <a:rPr lang="en-US" sz="1700" b="1">
                <a:latin typeface="Arial" panose="020B0604020202020204"/>
                <a:ea typeface="Arial" panose="020B0604020202020204"/>
                <a:cs typeface="Arial" panose="020B0604020202020204"/>
                <a:sym typeface="Arial" panose="020B0604020202020204"/>
              </a:rPr>
              <a:t>Ministry of Agriculture and Farmers Welfare</a:t>
            </a:r>
            <a:r>
              <a:rPr lang="en-US" sz="1700">
                <a:latin typeface="Arial" panose="020B0604020202020204"/>
                <a:ea typeface="Arial" panose="020B0604020202020204"/>
                <a:cs typeface="Arial" panose="020B0604020202020204"/>
                <a:sym typeface="Arial" panose="020B0604020202020204"/>
              </a:rPr>
              <a:t>, introduces a </a:t>
            </a:r>
            <a:r>
              <a:rPr lang="en-US" sz="1700" b="1">
                <a:latin typeface="Arial" panose="020B0604020202020204"/>
                <a:ea typeface="Arial" panose="020B0604020202020204"/>
                <a:cs typeface="Arial" panose="020B0604020202020204"/>
                <a:sym typeface="Arial" panose="020B0604020202020204"/>
              </a:rPr>
              <a:t>mobile application</a:t>
            </a:r>
            <a:r>
              <a:rPr lang="en-US" sz="1700">
                <a:latin typeface="Arial" panose="020B0604020202020204"/>
                <a:ea typeface="Arial" panose="020B0604020202020204"/>
                <a:cs typeface="Arial" panose="020B0604020202020204"/>
                <a:sym typeface="Arial" panose="020B0604020202020204"/>
              </a:rPr>
              <a:t> that directly connects farmers with consumers and retailers. The platform serves as a </a:t>
            </a:r>
            <a:r>
              <a:rPr lang="en-US" sz="1700" b="1">
                <a:latin typeface="Arial" panose="020B0604020202020204"/>
                <a:ea typeface="Arial" panose="020B0604020202020204"/>
                <a:cs typeface="Arial" panose="020B0604020202020204"/>
                <a:sym typeface="Arial" panose="020B0604020202020204"/>
              </a:rPr>
              <a:t>digital marketplace</a:t>
            </a:r>
            <a:r>
              <a:rPr lang="en-US" sz="1700">
                <a:latin typeface="Arial" panose="020B0604020202020204"/>
                <a:ea typeface="Arial" panose="020B0604020202020204"/>
                <a:cs typeface="Arial" panose="020B0604020202020204"/>
                <a:sym typeface="Arial" panose="020B0604020202020204"/>
              </a:rPr>
              <a:t> where farmers can list crops, negotiate prices, and manage transactions securely.</a:t>
            </a:r>
            <a:endParaRPr sz="17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a:latin typeface="Arial" panose="020B0604020202020204"/>
                <a:ea typeface="Arial" panose="020B0604020202020204"/>
                <a:cs typeface="Arial" panose="020B0604020202020204"/>
                <a:sym typeface="Arial" panose="020B0604020202020204"/>
              </a:rPr>
              <a:t>The app includes </a:t>
            </a:r>
            <a:r>
              <a:rPr lang="en-US" sz="1700" b="1">
                <a:latin typeface="Arial" panose="020B0604020202020204"/>
                <a:ea typeface="Arial" panose="020B0604020202020204"/>
                <a:cs typeface="Arial" panose="020B0604020202020204"/>
                <a:sym typeface="Arial" panose="020B0604020202020204"/>
              </a:rPr>
              <a:t>multilingual support</a:t>
            </a:r>
            <a:r>
              <a:rPr lang="en-US" sz="1700">
                <a:latin typeface="Arial" panose="020B0604020202020204"/>
                <a:ea typeface="Arial" panose="020B0604020202020204"/>
                <a:cs typeface="Arial" panose="020B0604020202020204"/>
                <a:sym typeface="Arial" panose="020B0604020202020204"/>
              </a:rPr>
              <a:t> to reach farmers across different regions and integrates </a:t>
            </a:r>
            <a:r>
              <a:rPr lang="en-US" sz="1700" b="1">
                <a:latin typeface="Arial" panose="020B0604020202020204"/>
                <a:ea typeface="Arial" panose="020B0604020202020204"/>
                <a:cs typeface="Arial" panose="020B0604020202020204"/>
                <a:sym typeface="Arial" panose="020B0604020202020204"/>
              </a:rPr>
              <a:t>voice-enabled features</a:t>
            </a:r>
            <a:r>
              <a:rPr lang="en-US" sz="1700">
                <a:latin typeface="Arial" panose="020B0604020202020204"/>
                <a:ea typeface="Arial" panose="020B0604020202020204"/>
                <a:cs typeface="Arial" panose="020B0604020202020204"/>
                <a:sym typeface="Arial" panose="020B0604020202020204"/>
              </a:rPr>
              <a:t> such as </a:t>
            </a:r>
            <a:r>
              <a:rPr lang="en-US" sz="1700" b="1">
                <a:latin typeface="Arial" panose="020B0604020202020204"/>
                <a:ea typeface="Arial" panose="020B0604020202020204"/>
                <a:cs typeface="Arial" panose="020B0604020202020204"/>
                <a:sym typeface="Arial" panose="020B0604020202020204"/>
              </a:rPr>
              <a:t>Speech-to-Text (STT)</a:t>
            </a:r>
            <a:r>
              <a:rPr lang="en-US" sz="1700">
                <a:latin typeface="Arial" panose="020B0604020202020204"/>
                <a:ea typeface="Arial" panose="020B0604020202020204"/>
                <a:cs typeface="Arial" panose="020B0604020202020204"/>
                <a:sym typeface="Arial" panose="020B0604020202020204"/>
              </a:rPr>
              <a:t> through Google Keyboard and </a:t>
            </a:r>
            <a:r>
              <a:rPr lang="en-US" sz="1700" b="1">
                <a:latin typeface="Arial" panose="020B0604020202020204"/>
                <a:ea typeface="Arial" panose="020B0604020202020204"/>
                <a:cs typeface="Arial" panose="020B0604020202020204"/>
                <a:sym typeface="Arial" panose="020B0604020202020204"/>
              </a:rPr>
              <a:t>Text-to-Speech (TTS)</a:t>
            </a:r>
            <a:r>
              <a:rPr lang="en-US" sz="1700">
                <a:latin typeface="Arial" panose="020B0604020202020204"/>
                <a:ea typeface="Arial" panose="020B0604020202020204"/>
                <a:cs typeface="Arial" panose="020B0604020202020204"/>
                <a:sym typeface="Arial" panose="020B0604020202020204"/>
              </a:rPr>
              <a:t> for negotiation messages. These features improve accessibility, especially for semi-literate farmers. Core functionalities include crop listing, negotiation, digital payments, and order tracking, ensuring benefits for both farmers and buyers through fair pricing and reliable sourcing.</a:t>
            </a:r>
            <a:endParaRPr sz="17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700">
                <a:latin typeface="Arial" panose="020B0604020202020204"/>
                <a:ea typeface="Arial" panose="020B0604020202020204"/>
                <a:cs typeface="Arial" panose="020B0604020202020204"/>
                <a:sym typeface="Arial" panose="020B0604020202020204"/>
              </a:rPr>
              <a:t>From a feasibility perspective, the app employs a </a:t>
            </a:r>
            <a:r>
              <a:rPr lang="en-US" sz="1700" b="1">
                <a:latin typeface="Arial" panose="020B0604020202020204"/>
                <a:ea typeface="Arial" panose="020B0604020202020204"/>
                <a:cs typeface="Arial" panose="020B0604020202020204"/>
                <a:sym typeface="Arial" panose="020B0604020202020204"/>
              </a:rPr>
              <a:t>React Native frontend</a:t>
            </a:r>
            <a:r>
              <a:rPr lang="en-US" sz="1700">
                <a:latin typeface="Arial" panose="020B0604020202020204"/>
                <a:ea typeface="Arial" panose="020B0604020202020204"/>
                <a:cs typeface="Arial" panose="020B0604020202020204"/>
                <a:sym typeface="Arial" panose="020B0604020202020204"/>
              </a:rPr>
              <a:t>, </a:t>
            </a:r>
            <a:r>
              <a:rPr lang="en-US" sz="1700" b="1">
                <a:latin typeface="Arial" panose="020B0604020202020204"/>
                <a:ea typeface="Arial" panose="020B0604020202020204"/>
                <a:cs typeface="Arial" panose="020B0604020202020204"/>
                <a:sym typeface="Arial" panose="020B0604020202020204"/>
              </a:rPr>
              <a:t>FastAPI backend</a:t>
            </a:r>
            <a:r>
              <a:rPr lang="en-US" sz="1700">
                <a:latin typeface="Arial" panose="020B0604020202020204"/>
                <a:ea typeface="Arial" panose="020B0604020202020204"/>
                <a:cs typeface="Arial" panose="020B0604020202020204"/>
                <a:sym typeface="Arial" panose="020B0604020202020204"/>
              </a:rPr>
              <a:t>, and </a:t>
            </a:r>
            <a:r>
              <a:rPr lang="en-US" sz="1700" b="1">
                <a:latin typeface="Arial" panose="020B0604020202020204"/>
                <a:ea typeface="Arial" panose="020B0604020202020204"/>
                <a:cs typeface="Arial" panose="020B0604020202020204"/>
                <a:sym typeface="Arial" panose="020B0604020202020204"/>
              </a:rPr>
              <a:t>Node.js with Supabase DB</a:t>
            </a:r>
            <a:r>
              <a:rPr lang="en-US" sz="1700">
                <a:latin typeface="Arial" panose="020B0604020202020204"/>
                <a:ea typeface="Arial" panose="020B0604020202020204"/>
                <a:cs typeface="Arial" panose="020B0604020202020204"/>
                <a:sym typeface="Arial" panose="020B0604020202020204"/>
              </a:rPr>
              <a:t>, ensuring scalability and secure data handling. Economically, it leverages open-source tools and potential revenue models, while socially it enhances farmer income, fosters digital inclusion, and builds trust in agricultural markets.</a:t>
            </a:r>
            <a:endParaRPr sz="1700">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endParaRPr sz="301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19" name="Shape 119"/>
        <p:cNvGrpSpPr/>
        <p:nvPr/>
      </p:nvGrpSpPr>
      <p:grpSpPr>
        <a:xfrm>
          <a:off x="0" y="0"/>
          <a:ext cx="0" cy="0"/>
          <a:chOff x="0" y="0"/>
          <a:chExt cx="0" cy="0"/>
        </a:xfrm>
      </p:grpSpPr>
      <p:sp>
        <p:nvSpPr>
          <p:cNvPr id="120" name="Google Shape;120;p18"/>
          <p:cNvSpPr txBox="1"/>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Literature Survey</a:t>
            </a:r>
            <a:endParaRPr lang="en-US"/>
          </a:p>
        </p:txBody>
      </p:sp>
      <p:sp>
        <p:nvSpPr>
          <p:cNvPr id="121" name="Google Shape;121;p18"/>
          <p:cNvSpPr txBox="1"/>
          <p:nvPr>
            <p:ph type="body" idx="1"/>
          </p:nvPr>
        </p:nvSpPr>
        <p:spPr>
          <a:xfrm>
            <a:off x="123975" y="898900"/>
            <a:ext cx="11856300" cy="5197200"/>
          </a:xfrm>
          <a:prstGeom prst="rect">
            <a:avLst/>
          </a:prstGeom>
        </p:spPr>
        <p:txBody>
          <a:bodyPr spcFirstLastPara="1" wrap="square" lIns="91425" tIns="45700" rIns="91425" bIns="45700" anchor="t" anchorCtr="0">
            <a:noAutofit/>
          </a:bodyPr>
          <a:lstStyle/>
          <a:p>
            <a:pPr marL="457200" lvl="0" indent="-317500" algn="l" rtl="0">
              <a:spcBef>
                <a:spcPts val="480"/>
              </a:spcBef>
              <a:spcAft>
                <a:spcPts val="0"/>
              </a:spcAft>
              <a:buSzPts val="1400"/>
              <a:buFont typeface="Arial" panose="020B0604020202020204"/>
              <a:buAutoNum type="arabicPeriod"/>
            </a:pPr>
            <a:r>
              <a:rPr lang="en-US" sz="1400" b="1">
                <a:latin typeface="Arial" panose="020B0604020202020204"/>
                <a:ea typeface="Arial" panose="020B0604020202020204"/>
                <a:cs typeface="Arial" panose="020B0604020202020204"/>
                <a:sym typeface="Arial" panose="020B0604020202020204"/>
              </a:rPr>
              <a:t>Kishan et al. (2025) – Mobile App for Direct Market Access</a:t>
            </a:r>
            <a:endParaRPr sz="1400" b="1">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Proposed a user-friendly app to connect farmers with consumers and retailers, focusing on secure transactions and digital listings [1].</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Limited to basic features; lacks AI-driven insights and multilingual support.</a:t>
            </a:r>
            <a:br>
              <a:rPr lang="en-US" sz="1400">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AutoNum type="arabicPeriod"/>
            </a:pPr>
            <a:r>
              <a:rPr lang="en-US" sz="1400" b="1">
                <a:latin typeface="Arial" panose="020B0604020202020204"/>
                <a:ea typeface="Arial" panose="020B0604020202020204"/>
                <a:cs typeface="Arial" panose="020B0604020202020204"/>
                <a:sym typeface="Arial" panose="020B0604020202020204"/>
              </a:rPr>
              <a:t>Bhavani et al. (2025) – Direct Farmer-to-Market Mobile App</a:t>
            </a:r>
            <a:endParaRPr sz="1400" b="1">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Developed a mobile app supporting transactions, showing improvements in farmer income [2].</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Limited scalability and no integration with transport/logistics.</a:t>
            </a:r>
            <a:br>
              <a:rPr lang="en-US" sz="1400">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AutoNum type="arabicPeriod"/>
            </a:pPr>
            <a:r>
              <a:rPr lang="en-US" sz="1400" b="1">
                <a:latin typeface="Arial" panose="020B0604020202020204"/>
                <a:ea typeface="Arial" panose="020B0604020202020204"/>
                <a:cs typeface="Arial" panose="020B0604020202020204"/>
                <a:sym typeface="Arial" panose="020B0604020202020204"/>
              </a:rPr>
              <a:t>Tati et al. (2025) – Multi-Service Farmer App</a:t>
            </a:r>
            <a:endParaRPr sz="1400" b="1">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Designed an app connecting farmers to markets, transport, and fertilizer shops [3].</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Broader scope but less specialization; complexity in adoption by rural users.</a:t>
            </a:r>
            <a:br>
              <a:rPr lang="en-US" sz="1400">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AutoNum type="arabicPeriod"/>
            </a:pPr>
            <a:r>
              <a:rPr lang="en-US" sz="1400" b="1">
                <a:latin typeface="Arial" panose="020B0604020202020204"/>
                <a:ea typeface="Arial" panose="020B0604020202020204"/>
                <a:cs typeface="Arial" panose="020B0604020202020204"/>
                <a:sym typeface="Arial" panose="020B0604020202020204"/>
              </a:rPr>
              <a:t>Sughasini et al. (2024) – Negotiation-Based Market Access</a:t>
            </a:r>
            <a:endParaRPr sz="1400" b="1">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b="1">
                <a:latin typeface="Arial" panose="020B0604020202020204"/>
                <a:ea typeface="Arial" panose="020B0604020202020204"/>
                <a:cs typeface="Arial" panose="020B0604020202020204"/>
                <a:sym typeface="Arial" panose="020B0604020202020204"/>
              </a:rPr>
              <a:t> </a:t>
            </a:r>
            <a:r>
              <a:rPr lang="en-US" sz="1400">
                <a:latin typeface="Arial" panose="020B0604020202020204"/>
                <a:ea typeface="Arial" panose="020B0604020202020204"/>
                <a:cs typeface="Arial" panose="020B0604020202020204"/>
                <a:sym typeface="Arial" panose="020B0604020202020204"/>
              </a:rPr>
              <a:t> Introduced a scalable platform enabling direct negotiation between farmers and buyers [4].</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Focused mainly on pricing transparency; lacks digital payment integration.</a:t>
            </a:r>
            <a:endParaRPr sz="1400">
              <a:latin typeface="Arial" panose="020B0604020202020204"/>
              <a:ea typeface="Arial" panose="020B0604020202020204"/>
              <a:cs typeface="Arial" panose="020B0604020202020204"/>
              <a:sym typeface="Arial" panose="020B0604020202020204"/>
            </a:endParaRPr>
          </a:p>
          <a:p>
            <a:pPr marL="914400" lvl="0" indent="0" algn="l" rtl="0">
              <a:spcBef>
                <a:spcPts val="480"/>
              </a:spcBef>
              <a:spcAft>
                <a:spcPts val="0"/>
              </a:spcAft>
              <a:buNone/>
            </a:pPr>
            <a:endParaRPr sz="1400">
              <a:latin typeface="Arial" panose="020B0604020202020204"/>
              <a:ea typeface="Arial" panose="020B0604020202020204"/>
              <a:cs typeface="Arial" panose="020B0604020202020204"/>
              <a:sym typeface="Arial" panose="020B0604020202020204"/>
            </a:endParaRPr>
          </a:p>
          <a:p>
            <a:pPr marL="457200" lvl="0" indent="-311150" algn="l" rtl="0">
              <a:spcBef>
                <a:spcPts val="480"/>
              </a:spcBef>
              <a:spcAft>
                <a:spcPts val="0"/>
              </a:spcAft>
              <a:buSzPts val="1300"/>
              <a:buFont typeface="Arial" panose="020B0604020202020204"/>
              <a:buAutoNum type="arabicPeriod"/>
            </a:pPr>
            <a:r>
              <a:rPr lang="en-US" sz="1300" b="1">
                <a:latin typeface="Arial" panose="020B0604020202020204"/>
                <a:ea typeface="Arial" panose="020B0604020202020204"/>
                <a:cs typeface="Arial" panose="020B0604020202020204"/>
                <a:sym typeface="Arial" panose="020B0604020202020204"/>
              </a:rPr>
              <a:t>Gomez et al. (2023) – AgroTIC (Crop Monitoring + Market Access)</a:t>
            </a:r>
            <a:endParaRPr sz="1300" b="1">
              <a:latin typeface="Arial" panose="020B0604020202020204"/>
              <a:ea typeface="Arial" panose="020B0604020202020204"/>
              <a:cs typeface="Arial" panose="020B0604020202020204"/>
              <a:sym typeface="Arial" panose="020B0604020202020204"/>
            </a:endParaRPr>
          </a:p>
          <a:p>
            <a:pPr marL="457200" lvl="0" indent="-311150" algn="l" rtl="0">
              <a:spcBef>
                <a:spcPts val="0"/>
              </a:spcBef>
              <a:spcAft>
                <a:spcPts val="0"/>
              </a:spcAft>
              <a:buSzPts val="1300"/>
              <a:buFont typeface="Arial" panose="020B0604020202020204"/>
              <a:buChar char="●"/>
            </a:pPr>
            <a:r>
              <a:rPr lang="en-US" sz="1300">
                <a:latin typeface="Arial" panose="020B0604020202020204"/>
                <a:ea typeface="Arial" panose="020B0604020202020204"/>
                <a:cs typeface="Arial" panose="020B0604020202020204"/>
                <a:sym typeface="Arial" panose="020B0604020202020204"/>
              </a:rPr>
              <a:t>Combined IoT-enabled crop monitoring with direct market listing; emphasized data-driven insights [5].</a:t>
            </a:r>
            <a:endParaRPr sz="1300">
              <a:latin typeface="Arial" panose="020B0604020202020204"/>
              <a:ea typeface="Arial" panose="020B0604020202020204"/>
              <a:cs typeface="Arial" panose="020B0604020202020204"/>
              <a:sym typeface="Arial" panose="020B0604020202020204"/>
            </a:endParaRPr>
          </a:p>
          <a:p>
            <a:pPr marL="457200" lvl="0" indent="-311150" algn="l" rtl="0">
              <a:spcBef>
                <a:spcPts val="0"/>
              </a:spcBef>
              <a:spcAft>
                <a:spcPts val="0"/>
              </a:spcAft>
              <a:buSzPts val="1300"/>
              <a:buFont typeface="Arial" panose="020B0604020202020204"/>
              <a:buChar char="●"/>
            </a:pPr>
            <a:r>
              <a:rPr lang="en-US" sz="1300">
                <a:latin typeface="Arial" panose="020B0604020202020204"/>
                <a:ea typeface="Arial" panose="020B0604020202020204"/>
                <a:cs typeface="Arial" panose="020B0604020202020204"/>
                <a:sym typeface="Arial" panose="020B0604020202020204"/>
              </a:rPr>
              <a:t> </a:t>
            </a:r>
            <a:r>
              <a:rPr lang="en-US" sz="1300" b="1">
                <a:latin typeface="Arial" panose="020B0604020202020204"/>
                <a:ea typeface="Arial" panose="020B0604020202020204"/>
                <a:cs typeface="Arial" panose="020B0604020202020204"/>
                <a:sym typeface="Arial" panose="020B0604020202020204"/>
              </a:rPr>
              <a:t>Limitation:</a:t>
            </a:r>
            <a:r>
              <a:rPr lang="en-US" sz="1300">
                <a:latin typeface="Arial" panose="020B0604020202020204"/>
                <a:ea typeface="Arial" panose="020B0604020202020204"/>
                <a:cs typeface="Arial" panose="020B0604020202020204"/>
                <a:sym typeface="Arial" panose="020B0604020202020204"/>
              </a:rPr>
              <a:t> Relies on IoT infrastructure, not widely available in rural regions.</a:t>
            </a:r>
            <a:endParaRPr sz="1300">
              <a:latin typeface="Arial" panose="020B0604020202020204"/>
              <a:ea typeface="Arial" panose="020B0604020202020204"/>
              <a:cs typeface="Arial" panose="020B0604020202020204"/>
              <a:sym typeface="Arial" panose="020B0604020202020204"/>
            </a:endParaRPr>
          </a:p>
          <a:p>
            <a:pPr marL="457200" lvl="0" indent="0" algn="l" rtl="0">
              <a:spcBef>
                <a:spcPts val="480"/>
              </a:spcBef>
              <a:spcAft>
                <a:spcPts val="0"/>
              </a:spcAft>
              <a:buNone/>
            </a:pPr>
            <a:endParaRPr sz="1300" b="1">
              <a:latin typeface="Arial" panose="020B0604020202020204"/>
              <a:ea typeface="Arial" panose="020B0604020202020204"/>
              <a:cs typeface="Arial" panose="020B0604020202020204"/>
              <a:sym typeface="Arial" panose="020B0604020202020204"/>
            </a:endParaRPr>
          </a:p>
          <a:p>
            <a:pPr marL="457200" lvl="0" indent="-311150" algn="l" rtl="0">
              <a:spcBef>
                <a:spcPts val="480"/>
              </a:spcBef>
              <a:spcAft>
                <a:spcPts val="0"/>
              </a:spcAft>
              <a:buSzPts val="1300"/>
              <a:buFont typeface="Arial" panose="020B0604020202020204"/>
              <a:buAutoNum type="arabicPeriod"/>
            </a:pPr>
            <a:r>
              <a:rPr lang="en-US" sz="1300" b="1">
                <a:latin typeface="Arial" panose="020B0604020202020204"/>
                <a:ea typeface="Arial" panose="020B0604020202020204"/>
                <a:cs typeface="Arial" panose="020B0604020202020204"/>
                <a:sym typeface="Arial" panose="020B0604020202020204"/>
              </a:rPr>
              <a:t>Mwakalinga et al. (2024) – eKichabi v2 (Tanzania)</a:t>
            </a:r>
            <a:endParaRPr sz="1300" b="1">
              <a:latin typeface="Arial" panose="020B0604020202020204"/>
              <a:ea typeface="Arial" panose="020B0604020202020204"/>
              <a:cs typeface="Arial" panose="020B0604020202020204"/>
              <a:sym typeface="Arial" panose="020B0604020202020204"/>
            </a:endParaRPr>
          </a:p>
          <a:p>
            <a:pPr marL="457200" lvl="0" indent="-311150" algn="l" rtl="0">
              <a:spcBef>
                <a:spcPts val="0"/>
              </a:spcBef>
              <a:spcAft>
                <a:spcPts val="0"/>
              </a:spcAft>
              <a:buSzPts val="1300"/>
              <a:buChar char="●"/>
            </a:pPr>
            <a:r>
              <a:rPr lang="en-US" sz="1300">
                <a:latin typeface="Arial" panose="020B0604020202020204"/>
                <a:ea typeface="Arial" panose="020B0604020202020204"/>
                <a:cs typeface="Arial" panose="020B0604020202020204"/>
                <a:sym typeface="Arial" panose="020B0604020202020204"/>
              </a:rPr>
              <a:t>Dual-platform agricultural directory improving access to information and reducing transaction costs [6].</a:t>
            </a:r>
            <a:endParaRPr sz="1300">
              <a:latin typeface="Arial" panose="020B0604020202020204"/>
              <a:ea typeface="Arial" panose="020B0604020202020204"/>
              <a:cs typeface="Arial" panose="020B0604020202020204"/>
              <a:sym typeface="Arial" panose="020B0604020202020204"/>
            </a:endParaRPr>
          </a:p>
          <a:p>
            <a:pPr marL="457200" lvl="0" indent="-298450" algn="l" rtl="0">
              <a:spcBef>
                <a:spcPts val="0"/>
              </a:spcBef>
              <a:spcAft>
                <a:spcPts val="0"/>
              </a:spcAft>
              <a:buSzPts val="1100"/>
              <a:buChar char="●"/>
            </a:pPr>
            <a:r>
              <a:rPr lang="en-US" sz="1300" b="1">
                <a:latin typeface="Arial" panose="020B0604020202020204"/>
                <a:ea typeface="Arial" panose="020B0604020202020204"/>
                <a:cs typeface="Arial" panose="020B0604020202020204"/>
                <a:sym typeface="Arial" panose="020B0604020202020204"/>
              </a:rPr>
              <a:t>Limitation:</a:t>
            </a:r>
            <a:r>
              <a:rPr lang="en-US" sz="1300">
                <a:latin typeface="Arial" panose="020B0604020202020204"/>
                <a:ea typeface="Arial" panose="020B0604020202020204"/>
                <a:cs typeface="Arial" panose="020B0604020202020204"/>
                <a:sym typeface="Arial" panose="020B0604020202020204"/>
              </a:rPr>
              <a:t> Regional focus; lacks advanced transaction and payment features.</a:t>
            </a:r>
            <a:br>
              <a:rPr lang="en-US" sz="1200">
                <a:latin typeface="Arial" panose="020B0604020202020204"/>
                <a:ea typeface="Arial" panose="020B0604020202020204"/>
                <a:cs typeface="Arial" panose="020B0604020202020204"/>
                <a:sym typeface="Arial" panose="020B0604020202020204"/>
              </a:rPr>
            </a:br>
            <a:br>
              <a:rPr lang="en-US" sz="1300">
                <a:latin typeface="Arial" panose="020B0604020202020204"/>
                <a:ea typeface="Arial" panose="020B0604020202020204"/>
                <a:cs typeface="Arial" panose="020B0604020202020204"/>
                <a:sym typeface="Arial" panose="020B0604020202020204"/>
              </a:rPr>
            </a:br>
            <a:endParaRPr lang="en-US" sz="1300">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25" name="Shape 125"/>
        <p:cNvGrpSpPr/>
        <p:nvPr/>
      </p:nvGrpSpPr>
      <p:grpSpPr>
        <a:xfrm>
          <a:off x="0" y="0"/>
          <a:ext cx="0" cy="0"/>
          <a:chOff x="0" y="0"/>
          <a:chExt cx="0" cy="0"/>
        </a:xfrm>
      </p:grpSpPr>
      <p:sp>
        <p:nvSpPr>
          <p:cNvPr id="126" name="Google Shape;126;p19"/>
          <p:cNvSpPr txBox="1"/>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Literature Survey(contd…)</a:t>
            </a:r>
            <a:endParaRPr lang="en-US"/>
          </a:p>
        </p:txBody>
      </p:sp>
      <p:sp>
        <p:nvSpPr>
          <p:cNvPr id="127" name="Google Shape;127;p19"/>
          <p:cNvSpPr txBox="1"/>
          <p:nvPr>
            <p:ph type="body" idx="1"/>
          </p:nvPr>
        </p:nvSpPr>
        <p:spPr>
          <a:xfrm>
            <a:off x="263475" y="762150"/>
            <a:ext cx="12192000" cy="5855700"/>
          </a:xfrm>
          <a:prstGeom prst="rect">
            <a:avLst/>
          </a:prstGeom>
        </p:spPr>
        <p:txBody>
          <a:bodyPr spcFirstLastPara="1" wrap="square" lIns="91425" tIns="45700" rIns="91425" bIns="45700" anchor="t" anchorCtr="0">
            <a:noAutofit/>
          </a:bodyPr>
          <a:lstStyle/>
          <a:p>
            <a:pPr marL="0" lvl="0" indent="0" algn="l" rtl="0">
              <a:spcBef>
                <a:spcPts val="480"/>
              </a:spcBef>
              <a:spcAft>
                <a:spcPts val="0"/>
              </a:spcAft>
              <a:buNone/>
            </a:pPr>
            <a:endParaRPr sz="1400">
              <a:latin typeface="Arial" panose="020B0604020202020204"/>
              <a:ea typeface="Arial" panose="020B0604020202020204"/>
              <a:cs typeface="Arial" panose="020B0604020202020204"/>
              <a:sym typeface="Arial" panose="020B0604020202020204"/>
            </a:endParaRPr>
          </a:p>
          <a:p>
            <a:pPr marL="0" lvl="0" indent="0" algn="l" rtl="0">
              <a:spcBef>
                <a:spcPts val="480"/>
              </a:spcBef>
              <a:spcAft>
                <a:spcPts val="0"/>
              </a:spcAft>
              <a:buNone/>
            </a:pPr>
            <a:r>
              <a:rPr lang="en-US" sz="1400" b="1">
                <a:latin typeface="Arial" panose="020B0604020202020204"/>
                <a:ea typeface="Arial" panose="020B0604020202020204"/>
                <a:cs typeface="Arial" panose="020B0604020202020204"/>
                <a:sym typeface="Arial" panose="020B0604020202020204"/>
              </a:rPr>
              <a:t>7. Vyas et al. (2023/24) – Flutter + Firebase Platform</a:t>
            </a:r>
            <a:endParaRPr sz="1400" b="1">
              <a:latin typeface="Arial" panose="020B0604020202020204"/>
              <a:ea typeface="Arial" panose="020B0604020202020204"/>
              <a:cs typeface="Arial" panose="020B0604020202020204"/>
              <a:sym typeface="Arial" panose="020B0604020202020204"/>
            </a:endParaRPr>
          </a:p>
          <a:p>
            <a:pPr marL="457200" lvl="0" indent="-317500" algn="l" rtl="0">
              <a:spcBef>
                <a:spcPts val="48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Developed a cross-platform app for farmer–consumer interaction, ensuring scalability and cloud storage [7].</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Dependent on stable internet connectivity; limited offline features.</a:t>
            </a:r>
            <a:br>
              <a:rPr lang="en-US" sz="1400">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0" lvl="0" indent="0" algn="l" rtl="0">
              <a:spcBef>
                <a:spcPts val="480"/>
              </a:spcBef>
              <a:spcAft>
                <a:spcPts val="0"/>
              </a:spcAft>
              <a:buNone/>
            </a:pPr>
            <a:r>
              <a:rPr lang="en-US" sz="1400" b="1">
                <a:latin typeface="Arial" panose="020B0604020202020204"/>
                <a:ea typeface="Arial" panose="020B0604020202020204"/>
                <a:cs typeface="Arial" panose="020B0604020202020204"/>
                <a:sym typeface="Arial" panose="020B0604020202020204"/>
              </a:rPr>
              <a:t>8.Kumar et al. (2020) – Regional Language Android App</a:t>
            </a:r>
            <a:endParaRPr sz="1400" b="1">
              <a:latin typeface="Arial" panose="020B0604020202020204"/>
              <a:ea typeface="Arial" panose="020B0604020202020204"/>
              <a:cs typeface="Arial" panose="020B0604020202020204"/>
              <a:sym typeface="Arial" panose="020B0604020202020204"/>
            </a:endParaRPr>
          </a:p>
          <a:p>
            <a:pPr marL="457200" lvl="0" indent="-317500" algn="l" rtl="0">
              <a:spcBef>
                <a:spcPts val="48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Designed a mobile platform in local languages to improve inclusivity for less literate farmers [8].</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Lacks advanced features like analytics, AI, or secure payment support.</a:t>
            </a:r>
            <a:br>
              <a:rPr lang="en-US" sz="1400">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0" lvl="0" indent="0" algn="l" rtl="0">
              <a:spcBef>
                <a:spcPts val="480"/>
              </a:spcBef>
              <a:spcAft>
                <a:spcPts val="0"/>
              </a:spcAft>
              <a:buNone/>
            </a:pPr>
            <a:r>
              <a:rPr lang="en-US" sz="1400" b="1">
                <a:latin typeface="Arial" panose="020B0604020202020204"/>
                <a:ea typeface="Arial" panose="020B0604020202020204"/>
                <a:cs typeface="Arial" panose="020B0604020202020204"/>
                <a:sym typeface="Arial" panose="020B0604020202020204"/>
              </a:rPr>
              <a:t>9. S. M. et al. (2020) – Agricultural Marketing App</a:t>
            </a:r>
            <a:endParaRPr sz="1400" b="1">
              <a:latin typeface="Arial" panose="020B0604020202020204"/>
              <a:ea typeface="Arial" panose="020B0604020202020204"/>
              <a:cs typeface="Arial" panose="020B0604020202020204"/>
              <a:sym typeface="Arial" panose="020B0604020202020204"/>
            </a:endParaRPr>
          </a:p>
          <a:p>
            <a:pPr marL="457200" lvl="0" indent="-317500" algn="l" rtl="0">
              <a:spcBef>
                <a:spcPts val="48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Android app supporting listing, search, and crop purchases with a simple UI [9].</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Early-stage prototype; not field-tested for large-scale deployment.</a:t>
            </a:r>
            <a:br>
              <a:rPr lang="en-US" sz="1400">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0" lvl="0" indent="0" algn="l" rtl="0">
              <a:spcBef>
                <a:spcPts val="480"/>
              </a:spcBef>
              <a:spcAft>
                <a:spcPts val="0"/>
              </a:spcAft>
              <a:buNone/>
            </a:pPr>
            <a:r>
              <a:rPr lang="en-US" sz="1400" b="1">
                <a:latin typeface="Arial" panose="020B0604020202020204"/>
                <a:ea typeface="Arial" panose="020B0604020202020204"/>
                <a:cs typeface="Arial" panose="020B0604020202020204"/>
                <a:sym typeface="Arial" panose="020B0604020202020204"/>
              </a:rPr>
              <a:t>10.Samuel et al. (2024/25) – AgroLLM (Conversational AI for Farmers)</a:t>
            </a:r>
            <a:br>
              <a:rPr lang="en-US" sz="1400" b="1">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48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Leveraged Large Language Models (LLMs) to support buyer–seller communication and Q&amp;A [10].</a:t>
            </a:r>
            <a:endParaRPr sz="1400">
              <a:latin typeface="Arial" panose="020B0604020202020204"/>
              <a:ea typeface="Arial" panose="020B0604020202020204"/>
              <a:cs typeface="Arial" panose="020B0604020202020204"/>
              <a:sym typeface="Arial" panose="020B0604020202020204"/>
            </a:endParaRPr>
          </a:p>
          <a:p>
            <a:pPr marL="457200" lvl="0" indent="-317500" algn="l" rtl="0">
              <a:spcBef>
                <a:spcPts val="0"/>
              </a:spcBef>
              <a:spcAft>
                <a:spcPts val="0"/>
              </a:spcAft>
              <a:buSzPts val="1400"/>
              <a:buFont typeface="Arial" panose="020B0604020202020204"/>
              <a:buChar char="●"/>
            </a:pPr>
            <a:r>
              <a:rPr lang="en-US" sz="1400">
                <a:latin typeface="Arial" panose="020B0604020202020204"/>
                <a:ea typeface="Arial" panose="020B0604020202020204"/>
                <a:cs typeface="Arial" panose="020B0604020202020204"/>
                <a:sym typeface="Arial" panose="020B0604020202020204"/>
              </a:rPr>
              <a:t> </a:t>
            </a:r>
            <a:r>
              <a:rPr lang="en-US" sz="1400" b="1">
                <a:latin typeface="Arial" panose="020B0604020202020204"/>
                <a:ea typeface="Arial" panose="020B0604020202020204"/>
                <a:cs typeface="Arial" panose="020B0604020202020204"/>
                <a:sym typeface="Arial" panose="020B0604020202020204"/>
              </a:rPr>
              <a:t>Limitation:</a:t>
            </a:r>
            <a:r>
              <a:rPr lang="en-US" sz="1400">
                <a:latin typeface="Arial" panose="020B0604020202020204"/>
                <a:ea typeface="Arial" panose="020B0604020202020204"/>
                <a:cs typeface="Arial" panose="020B0604020202020204"/>
                <a:sym typeface="Arial" panose="020B0604020202020204"/>
              </a:rPr>
              <a:t> High computational requirements; rural connectivity and cost challenges</a:t>
            </a:r>
            <a:endParaRPr sz="1400">
              <a:latin typeface="Arial" panose="020B0604020202020204"/>
              <a:ea typeface="Arial" panose="020B0604020202020204"/>
              <a:cs typeface="Arial" panose="020B0604020202020204"/>
              <a:sym typeface="Arial" panose="020B0604020202020204"/>
            </a:endParaRPr>
          </a:p>
          <a:p>
            <a:pPr marL="0" lvl="0" indent="0" algn="l" rtl="0">
              <a:spcBef>
                <a:spcPts val="480"/>
              </a:spcBef>
              <a:spcAft>
                <a:spcPts val="0"/>
              </a:spcAft>
              <a:buNone/>
            </a:pPr>
            <a:r>
              <a:rPr lang="en-US" sz="1400">
                <a:latin typeface="Arial" panose="020B0604020202020204"/>
                <a:ea typeface="Arial" panose="020B0604020202020204"/>
                <a:cs typeface="Arial" panose="020B0604020202020204"/>
                <a:sym typeface="Arial" panose="020B0604020202020204"/>
              </a:rPr>
              <a:t>.</a:t>
            </a:r>
            <a:br>
              <a:rPr lang="en-US" sz="1400">
                <a:latin typeface="Arial" panose="020B0604020202020204"/>
                <a:ea typeface="Arial" panose="020B0604020202020204"/>
                <a:cs typeface="Arial" panose="020B0604020202020204"/>
                <a:sym typeface="Arial" panose="020B0604020202020204"/>
              </a:rPr>
            </a:br>
            <a:r>
              <a:rPr lang="en-US" sz="1400">
                <a:latin typeface="Arial" panose="020B0604020202020204"/>
                <a:ea typeface="Arial" panose="020B0604020202020204"/>
                <a:cs typeface="Arial" panose="020B0604020202020204"/>
                <a:sym typeface="Arial" panose="020B0604020202020204"/>
              </a:rPr>
              <a:t>11.</a:t>
            </a:r>
            <a:r>
              <a:rPr lang="en-US" sz="1500" b="1">
                <a:latin typeface="Arial" panose="020B0604020202020204"/>
                <a:ea typeface="Arial" panose="020B0604020202020204"/>
                <a:cs typeface="Arial" panose="020B0604020202020204"/>
                <a:sym typeface="Arial" panose="020B0604020202020204"/>
              </a:rPr>
              <a:t>Farmers E-Commerce Mobile Application – IJCRT (2023)</a:t>
            </a:r>
            <a:endParaRPr sz="1500" b="1">
              <a:latin typeface="Arial" panose="020B0604020202020204"/>
              <a:ea typeface="Arial" panose="020B0604020202020204"/>
              <a:cs typeface="Arial" panose="020B0604020202020204"/>
              <a:sym typeface="Arial" panose="020B0604020202020204"/>
            </a:endParaRPr>
          </a:p>
          <a:p>
            <a:pPr marL="457200" lvl="0" indent="-323850" algn="l" rtl="0">
              <a:spcBef>
                <a:spcPts val="480"/>
              </a:spcBef>
              <a:spcAft>
                <a:spcPts val="0"/>
              </a:spcAft>
              <a:buSzPts val="1500"/>
              <a:buFont typeface="Arial" panose="020B0604020202020204"/>
              <a:buChar char="●"/>
            </a:pPr>
            <a:r>
              <a:rPr lang="en-US" sz="1500">
                <a:latin typeface="Arial" panose="020B0604020202020204"/>
                <a:ea typeface="Arial" panose="020B0604020202020204"/>
                <a:cs typeface="Arial" panose="020B0604020202020204"/>
                <a:sym typeface="Arial" panose="020B0604020202020204"/>
              </a:rPr>
              <a:t>Highlights a digital marketplace for farmers called </a:t>
            </a:r>
            <a:r>
              <a:rPr lang="en-US" sz="1500" i="1">
                <a:latin typeface="Arial" panose="020B0604020202020204"/>
                <a:ea typeface="Arial" panose="020B0604020202020204"/>
                <a:cs typeface="Arial" panose="020B0604020202020204"/>
                <a:sym typeface="Arial" panose="020B0604020202020204"/>
              </a:rPr>
              <a:t>HarvestHub</a:t>
            </a:r>
            <a:r>
              <a:rPr lang="en-US" sz="1500">
                <a:latin typeface="Arial" panose="020B0604020202020204"/>
                <a:ea typeface="Arial" panose="020B0604020202020204"/>
                <a:cs typeface="Arial" panose="020B0604020202020204"/>
                <a:sym typeface="Arial" panose="020B0604020202020204"/>
              </a:rPr>
              <a:t>, focused on direct transactions between farmers and buyers [6}.</a:t>
            </a:r>
            <a:endParaRPr sz="1500">
              <a:latin typeface="Arial" panose="020B0604020202020204"/>
              <a:ea typeface="Arial" panose="020B0604020202020204"/>
              <a:cs typeface="Arial" panose="020B0604020202020204"/>
              <a:sym typeface="Arial" panose="020B0604020202020204"/>
            </a:endParaRPr>
          </a:p>
          <a:p>
            <a:pPr marL="457200" lvl="0" indent="-323850" algn="l" rtl="0">
              <a:spcBef>
                <a:spcPts val="0"/>
              </a:spcBef>
              <a:spcAft>
                <a:spcPts val="0"/>
              </a:spcAft>
              <a:buSzPts val="1500"/>
              <a:buFont typeface="Arial" panose="020B0604020202020204"/>
              <a:buChar char="●"/>
            </a:pPr>
            <a:r>
              <a:rPr lang="en-US" sz="1500">
                <a:latin typeface="Arial" panose="020B0604020202020204"/>
                <a:ea typeface="Arial" panose="020B0604020202020204"/>
                <a:cs typeface="Arial" panose="020B0604020202020204"/>
                <a:sym typeface="Arial" panose="020B0604020202020204"/>
              </a:rPr>
              <a:t> </a:t>
            </a:r>
            <a:r>
              <a:rPr lang="en-US" sz="1500" b="1">
                <a:latin typeface="Arial" panose="020B0604020202020204"/>
                <a:ea typeface="Arial" panose="020B0604020202020204"/>
                <a:cs typeface="Arial" panose="020B0604020202020204"/>
                <a:sym typeface="Arial" panose="020B0604020202020204"/>
              </a:rPr>
              <a:t>Limitation:</a:t>
            </a:r>
            <a:r>
              <a:rPr lang="en-US" sz="1500">
                <a:latin typeface="Arial" panose="020B0604020202020204"/>
                <a:ea typeface="Arial" panose="020B0604020202020204"/>
                <a:cs typeface="Arial" panose="020B0604020202020204"/>
                <a:sym typeface="Arial" panose="020B0604020202020204"/>
              </a:rPr>
              <a:t> Basic marketplace features; lacks AI-driven insights and multilingual support.</a:t>
            </a:r>
            <a:br>
              <a:rPr lang="en-US" sz="1500">
                <a:latin typeface="Arial" panose="020B0604020202020204"/>
                <a:ea typeface="Arial" panose="020B0604020202020204"/>
                <a:cs typeface="Arial" panose="020B0604020202020204"/>
                <a:sym typeface="Arial" panose="020B0604020202020204"/>
              </a:rPr>
            </a:br>
            <a:endParaRPr sz="1400">
              <a:latin typeface="Arial" panose="020B0604020202020204"/>
              <a:ea typeface="Arial" panose="020B0604020202020204"/>
              <a:cs typeface="Arial" panose="020B0604020202020204"/>
              <a:sym typeface="Arial" panose="020B0604020202020204"/>
            </a:endParaRPr>
          </a:p>
          <a:p>
            <a:pPr marL="0" lvl="0" indent="0" algn="l" rtl="0">
              <a:spcBef>
                <a:spcPts val="480"/>
              </a:spcBef>
              <a:spcAft>
                <a:spcPts val="0"/>
              </a:spcAft>
              <a:buNone/>
            </a:pPr>
            <a:endParaRPr sz="2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31" name="Shape 131"/>
        <p:cNvGrpSpPr/>
        <p:nvPr/>
      </p:nvGrpSpPr>
      <p:grpSpPr>
        <a:xfrm>
          <a:off x="0" y="0"/>
          <a:ext cx="0" cy="0"/>
          <a:chOff x="0" y="0"/>
          <a:chExt cx="0" cy="0"/>
        </a:xfrm>
      </p:grpSpPr>
      <p:sp>
        <p:nvSpPr>
          <p:cNvPr id="132" name="Google Shape;132;p20"/>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solidFill>
                  <a:srgbClr val="17365D"/>
                </a:solidFill>
              </a:rPr>
              <a:t>Objectives</a:t>
            </a:r>
            <a:endParaRPr lang="en-US">
              <a:solidFill>
                <a:srgbClr val="17365D"/>
              </a:solidFill>
            </a:endParaRPr>
          </a:p>
        </p:txBody>
      </p:sp>
      <p:sp>
        <p:nvSpPr>
          <p:cNvPr id="133" name="Google Shape;133;p20"/>
          <p:cNvSpPr txBox="1"/>
          <p:nvPr>
            <p:ph type="body" idx="1"/>
          </p:nvPr>
        </p:nvSpPr>
        <p:spPr>
          <a:xfrm>
            <a:off x="623700" y="1129403"/>
            <a:ext cx="10668000" cy="5070000"/>
          </a:xfrm>
          <a:prstGeom prst="rect">
            <a:avLst/>
          </a:prstGeom>
          <a:noFill/>
          <a:ln>
            <a:noFill/>
          </a:ln>
        </p:spPr>
        <p:txBody>
          <a:bodyPr spcFirstLastPara="1" wrap="square" lIns="91425" tIns="45700" rIns="91425" bIns="45700" anchor="t" anchorCtr="0">
            <a:noAutofit/>
          </a:bodyPr>
          <a:lstStyle/>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Provide farmers a direct digital marketplace.</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Increase farmer income through fair pricing.</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Enable secure digital payments &amp; transaction management.</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Support multilingual &amp; voice-enabled accessibility.</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Expand market reach for farmers’ produce.</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Build scalable system using React Native, FastAPI &amp; Supabase DB.</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Ensure low-cost, sustainable, and open-source solution.</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419100" algn="l" rtl="0">
              <a:lnSpc>
                <a:spcPct val="80000"/>
              </a:lnSpc>
              <a:spcBef>
                <a:spcPts val="480"/>
              </a:spcBef>
              <a:spcAft>
                <a:spcPts val="0"/>
              </a:spcAft>
              <a:buSzPts val="3000"/>
              <a:buChar char="•"/>
            </a:pPr>
            <a:r>
              <a:rPr lang="en-US" sz="1700">
                <a:latin typeface="Arial" panose="020B0604020202020204"/>
                <a:ea typeface="Arial" panose="020B0604020202020204"/>
                <a:cs typeface="Arial" panose="020B0604020202020204"/>
                <a:sym typeface="Arial" panose="020B0604020202020204"/>
              </a:rPr>
              <a:t>Align with </a:t>
            </a:r>
            <a:r>
              <a:rPr lang="en-US" sz="1700" b="1">
                <a:latin typeface="Arial" panose="020B0604020202020204"/>
                <a:ea typeface="Arial" panose="020B0604020202020204"/>
                <a:cs typeface="Arial" panose="020B0604020202020204"/>
                <a:sym typeface="Arial" panose="020B0604020202020204"/>
              </a:rPr>
              <a:t>SDG 9 – Innovation &amp; Infrastructure</a:t>
            </a:r>
            <a:r>
              <a:rPr lang="en-US" sz="1700">
                <a:latin typeface="Arial" panose="020B0604020202020204"/>
                <a:ea typeface="Arial" panose="020B0604020202020204"/>
                <a:cs typeface="Arial" panose="020B0604020202020204"/>
                <a:sym typeface="Arial" panose="020B0604020202020204"/>
              </a:rPr>
              <a:t>.</a:t>
            </a:r>
            <a:endParaRPr sz="3400">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37" name="Shape 137"/>
        <p:cNvGrpSpPr/>
        <p:nvPr/>
      </p:nvGrpSpPr>
      <p:grpSpPr>
        <a:xfrm>
          <a:off x="0" y="0"/>
          <a:ext cx="0" cy="0"/>
          <a:chOff x="0" y="0"/>
          <a:chExt cx="0" cy="0"/>
        </a:xfrm>
      </p:grpSpPr>
      <p:sp>
        <p:nvSpPr>
          <p:cNvPr id="138" name="Google Shape;138;p21"/>
          <p:cNvSpPr txBox="1"/>
          <p:nvPr>
            <p:ph type="title"/>
          </p:nvPr>
        </p:nvSpPr>
        <p:spPr>
          <a:xfrm>
            <a:off x="7620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t>Existing Models and Drawbacks</a:t>
            </a:r>
            <a:endParaRPr lang="en-US"/>
          </a:p>
        </p:txBody>
      </p:sp>
      <p:sp>
        <p:nvSpPr>
          <p:cNvPr id="139" name="Google Shape;139;p21"/>
          <p:cNvSpPr txBox="1"/>
          <p:nvPr>
            <p:ph type="body" idx="1"/>
          </p:nvPr>
        </p:nvSpPr>
        <p:spPr>
          <a:xfrm>
            <a:off x="655775" y="962525"/>
            <a:ext cx="10668000" cy="54228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1600" b="1">
                <a:latin typeface="Arial" panose="020B0604020202020204"/>
                <a:ea typeface="Arial" panose="020B0604020202020204"/>
                <a:cs typeface="Arial" panose="020B0604020202020204"/>
                <a:sym typeface="Arial" panose="020B0604020202020204"/>
              </a:rPr>
              <a:t>Existing Models – Common Features:</a:t>
            </a:r>
            <a:endParaRPr sz="1600" b="1">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1200"/>
              </a:spcBef>
              <a:spcAft>
                <a:spcPts val="0"/>
              </a:spcAft>
              <a:buSzPts val="1600"/>
              <a:buChar char="●"/>
            </a:pPr>
            <a:r>
              <a:rPr lang="en-US" sz="1600">
                <a:latin typeface="Arial" panose="020B0604020202020204"/>
                <a:ea typeface="Arial" panose="020B0604020202020204"/>
                <a:cs typeface="Arial" panose="020B0604020202020204"/>
                <a:sym typeface="Arial" panose="020B0604020202020204"/>
              </a:rPr>
              <a:t>Provide </a:t>
            </a:r>
            <a:r>
              <a:rPr lang="en-US" sz="1600" b="1">
                <a:latin typeface="Arial" panose="020B0604020202020204"/>
                <a:ea typeface="Arial" panose="020B0604020202020204"/>
                <a:cs typeface="Arial" panose="020B0604020202020204"/>
                <a:sym typeface="Arial" panose="020B0604020202020204"/>
              </a:rPr>
              <a:t>digital platforms</a:t>
            </a:r>
            <a:r>
              <a:rPr lang="en-US" sz="1600">
                <a:latin typeface="Arial" panose="020B0604020202020204"/>
                <a:ea typeface="Arial" panose="020B0604020202020204"/>
                <a:cs typeface="Arial" panose="020B0604020202020204"/>
                <a:sym typeface="Arial" panose="020B0604020202020204"/>
              </a:rPr>
              <a:t> for direct farmer–buyer transactions</a:t>
            </a:r>
            <a:br>
              <a:rPr lang="en-US" sz="1600">
                <a:latin typeface="Arial" panose="020B0604020202020204"/>
                <a:ea typeface="Arial" panose="020B0604020202020204"/>
                <a:cs typeface="Arial" panose="020B0604020202020204"/>
                <a:sym typeface="Arial" panose="020B0604020202020204"/>
              </a:rPr>
            </a:br>
            <a:endParaRPr sz="1600">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0"/>
              </a:spcBef>
              <a:spcAft>
                <a:spcPts val="0"/>
              </a:spcAft>
              <a:buSzPts val="1600"/>
              <a:buChar char="●"/>
            </a:pPr>
            <a:r>
              <a:rPr lang="en-US" sz="1600">
                <a:latin typeface="Arial" panose="020B0604020202020204"/>
                <a:ea typeface="Arial" panose="020B0604020202020204"/>
                <a:cs typeface="Arial" panose="020B0604020202020204"/>
                <a:sym typeface="Arial" panose="020B0604020202020204"/>
              </a:rPr>
              <a:t>Improve </a:t>
            </a:r>
            <a:r>
              <a:rPr lang="en-US" sz="1600" b="1">
                <a:latin typeface="Arial" panose="020B0604020202020204"/>
                <a:ea typeface="Arial" panose="020B0604020202020204"/>
                <a:cs typeface="Arial" panose="020B0604020202020204"/>
                <a:sym typeface="Arial" panose="020B0604020202020204"/>
              </a:rPr>
              <a:t>market access</a:t>
            </a:r>
            <a:r>
              <a:rPr lang="en-US" sz="1600">
                <a:latin typeface="Arial" panose="020B0604020202020204"/>
                <a:ea typeface="Arial" panose="020B0604020202020204"/>
                <a:cs typeface="Arial" panose="020B0604020202020204"/>
                <a:sym typeface="Arial" panose="020B0604020202020204"/>
              </a:rPr>
              <a:t> and income opportunities for farmers</a:t>
            </a:r>
            <a:br>
              <a:rPr lang="en-US" sz="1600">
                <a:latin typeface="Arial" panose="020B0604020202020204"/>
                <a:ea typeface="Arial" panose="020B0604020202020204"/>
                <a:cs typeface="Arial" panose="020B0604020202020204"/>
                <a:sym typeface="Arial" panose="020B0604020202020204"/>
              </a:rPr>
            </a:br>
            <a:endParaRPr sz="1600">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0"/>
              </a:spcBef>
              <a:spcAft>
                <a:spcPts val="0"/>
              </a:spcAft>
              <a:buSzPts val="1600"/>
              <a:buChar char="●"/>
            </a:pPr>
            <a:r>
              <a:rPr lang="en-US" sz="1600">
                <a:latin typeface="Arial" panose="020B0604020202020204"/>
                <a:ea typeface="Arial" panose="020B0604020202020204"/>
                <a:cs typeface="Arial" panose="020B0604020202020204"/>
                <a:sym typeface="Arial" panose="020B0604020202020204"/>
              </a:rPr>
              <a:t>Enable </a:t>
            </a:r>
            <a:r>
              <a:rPr lang="en-US" sz="1600" b="1">
                <a:latin typeface="Arial" panose="020B0604020202020204"/>
                <a:ea typeface="Arial" panose="020B0604020202020204"/>
                <a:cs typeface="Arial" panose="020B0604020202020204"/>
                <a:sym typeface="Arial" panose="020B0604020202020204"/>
              </a:rPr>
              <a:t>listing, search, and basic negotiation</a:t>
            </a:r>
            <a:r>
              <a:rPr lang="en-US" sz="1600">
                <a:latin typeface="Arial" panose="020B0604020202020204"/>
                <a:ea typeface="Arial" panose="020B0604020202020204"/>
                <a:cs typeface="Arial" panose="020B0604020202020204"/>
                <a:sym typeface="Arial" panose="020B0604020202020204"/>
              </a:rPr>
              <a:t> features</a:t>
            </a:r>
            <a:br>
              <a:rPr lang="en-US" sz="1600">
                <a:latin typeface="Arial" panose="020B0604020202020204"/>
                <a:ea typeface="Arial" panose="020B0604020202020204"/>
                <a:cs typeface="Arial" panose="020B0604020202020204"/>
                <a:sym typeface="Arial" panose="020B0604020202020204"/>
              </a:rPr>
            </a:br>
            <a:endParaRPr sz="1600">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0"/>
              </a:spcBef>
              <a:spcAft>
                <a:spcPts val="0"/>
              </a:spcAft>
              <a:buSzPts val="1600"/>
              <a:buChar char="●"/>
            </a:pPr>
            <a:r>
              <a:rPr lang="en-US" sz="1600">
                <a:latin typeface="Arial" panose="020B0604020202020204"/>
                <a:ea typeface="Arial" panose="020B0604020202020204"/>
                <a:cs typeface="Arial" panose="020B0604020202020204"/>
                <a:sym typeface="Arial" panose="020B0604020202020204"/>
              </a:rPr>
              <a:t>Support </a:t>
            </a:r>
            <a:r>
              <a:rPr lang="en-US" sz="1600" b="1">
                <a:latin typeface="Arial" panose="020B0604020202020204"/>
                <a:ea typeface="Arial" panose="020B0604020202020204"/>
                <a:cs typeface="Arial" panose="020B0604020202020204"/>
                <a:sym typeface="Arial" panose="020B0604020202020204"/>
              </a:rPr>
              <a:t>regional inclusivity</a:t>
            </a:r>
            <a:r>
              <a:rPr lang="en-US" sz="1600">
                <a:latin typeface="Arial" panose="020B0604020202020204"/>
                <a:ea typeface="Arial" panose="020B0604020202020204"/>
                <a:cs typeface="Arial" panose="020B0604020202020204"/>
                <a:sym typeface="Arial" panose="020B0604020202020204"/>
              </a:rPr>
              <a:t> through mobile applications</a:t>
            </a:r>
            <a:endParaRPr sz="16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600" b="1">
                <a:latin typeface="Arial" panose="020B0604020202020204"/>
                <a:ea typeface="Arial" panose="020B0604020202020204"/>
                <a:cs typeface="Arial" panose="020B0604020202020204"/>
                <a:sym typeface="Arial" panose="020B0604020202020204"/>
              </a:rPr>
              <a:t>Common Drawbacks:</a:t>
            </a:r>
            <a:endParaRPr sz="1600" b="1">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1200"/>
              </a:spcBef>
              <a:spcAft>
                <a:spcPts val="0"/>
              </a:spcAft>
              <a:buSzPts val="1600"/>
              <a:buChar char="●"/>
            </a:pPr>
            <a:r>
              <a:rPr lang="en-US" sz="1600">
                <a:latin typeface="Arial" panose="020B0604020202020204"/>
                <a:ea typeface="Arial" panose="020B0604020202020204"/>
                <a:cs typeface="Arial" panose="020B0604020202020204"/>
                <a:sym typeface="Arial" panose="020B0604020202020204"/>
              </a:rPr>
              <a:t>Lack of </a:t>
            </a:r>
            <a:r>
              <a:rPr lang="en-US" sz="1600" b="1">
                <a:latin typeface="Arial" panose="020B0604020202020204"/>
                <a:ea typeface="Arial" panose="020B0604020202020204"/>
                <a:cs typeface="Arial" panose="020B0604020202020204"/>
                <a:sym typeface="Arial" panose="020B0604020202020204"/>
              </a:rPr>
              <a:t>multilingual support</a:t>
            </a:r>
            <a:r>
              <a:rPr lang="en-US" sz="1600">
                <a:latin typeface="Arial" panose="020B0604020202020204"/>
                <a:ea typeface="Arial" panose="020B0604020202020204"/>
                <a:cs typeface="Arial" panose="020B0604020202020204"/>
                <a:sym typeface="Arial" panose="020B0604020202020204"/>
              </a:rPr>
              <a:t> and inclusivity</a:t>
            </a:r>
            <a:br>
              <a:rPr lang="en-US" sz="1600">
                <a:latin typeface="Arial" panose="020B0604020202020204"/>
                <a:ea typeface="Arial" panose="020B0604020202020204"/>
                <a:cs typeface="Arial" panose="020B0604020202020204"/>
                <a:sym typeface="Arial" panose="020B0604020202020204"/>
              </a:rPr>
            </a:br>
            <a:endParaRPr sz="1600">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0"/>
              </a:spcBef>
              <a:spcAft>
                <a:spcPts val="0"/>
              </a:spcAft>
              <a:buSzPts val="1600"/>
              <a:buChar char="●"/>
            </a:pPr>
            <a:r>
              <a:rPr lang="en-US" sz="1600">
                <a:latin typeface="Arial" panose="020B0604020202020204"/>
                <a:ea typeface="Arial" panose="020B0604020202020204"/>
                <a:cs typeface="Arial" panose="020B0604020202020204"/>
                <a:sym typeface="Arial" panose="020B0604020202020204"/>
              </a:rPr>
              <a:t>Limited or </a:t>
            </a:r>
            <a:r>
              <a:rPr lang="en-US" sz="1600" b="1">
                <a:latin typeface="Arial" panose="020B0604020202020204"/>
                <a:ea typeface="Arial" panose="020B0604020202020204"/>
                <a:cs typeface="Arial" panose="020B0604020202020204"/>
                <a:sym typeface="Arial" panose="020B0604020202020204"/>
              </a:rPr>
              <a:t>no logistics and payment integration</a:t>
            </a:r>
            <a:br>
              <a:rPr lang="en-US" sz="1600" b="1">
                <a:latin typeface="Arial" panose="020B0604020202020204"/>
                <a:ea typeface="Arial" panose="020B0604020202020204"/>
                <a:cs typeface="Arial" panose="020B0604020202020204"/>
                <a:sym typeface="Arial" panose="020B0604020202020204"/>
              </a:rPr>
            </a:br>
            <a:endParaRPr sz="1600" b="1">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0"/>
              </a:spcBef>
              <a:spcAft>
                <a:spcPts val="0"/>
              </a:spcAft>
              <a:buSzPts val="1600"/>
              <a:buChar char="●"/>
            </a:pPr>
            <a:r>
              <a:rPr lang="en-US" sz="1600">
                <a:latin typeface="Arial" panose="020B0604020202020204"/>
                <a:ea typeface="Arial" panose="020B0604020202020204"/>
                <a:cs typeface="Arial" panose="020B0604020202020204"/>
                <a:sym typeface="Arial" panose="020B0604020202020204"/>
              </a:rPr>
              <a:t>Mostly </a:t>
            </a:r>
            <a:r>
              <a:rPr lang="en-US" sz="1600" b="1">
                <a:latin typeface="Arial" panose="020B0604020202020204"/>
                <a:ea typeface="Arial" panose="020B0604020202020204"/>
                <a:cs typeface="Arial" panose="020B0604020202020204"/>
                <a:sym typeface="Arial" panose="020B0604020202020204"/>
              </a:rPr>
              <a:t>prototype stage</a:t>
            </a:r>
            <a:r>
              <a:rPr lang="en-US" sz="1600">
                <a:latin typeface="Arial" panose="020B0604020202020204"/>
                <a:ea typeface="Arial" panose="020B0604020202020204"/>
                <a:cs typeface="Arial" panose="020B0604020202020204"/>
                <a:sym typeface="Arial" panose="020B0604020202020204"/>
              </a:rPr>
              <a:t>, not tested at scale</a:t>
            </a:r>
            <a:br>
              <a:rPr lang="en-US" sz="1600">
                <a:latin typeface="Arial" panose="020B0604020202020204"/>
                <a:ea typeface="Arial" panose="020B0604020202020204"/>
                <a:cs typeface="Arial" panose="020B0604020202020204"/>
                <a:sym typeface="Arial" panose="020B0604020202020204"/>
              </a:rPr>
            </a:br>
            <a:endParaRPr sz="1600">
              <a:latin typeface="Arial" panose="020B0604020202020204"/>
              <a:ea typeface="Arial" panose="020B0604020202020204"/>
              <a:cs typeface="Arial" panose="020B0604020202020204"/>
              <a:sym typeface="Arial" panose="020B0604020202020204"/>
            </a:endParaRPr>
          </a:p>
          <a:p>
            <a:pPr marL="457200" lvl="0" indent="-330200" algn="l" rtl="0">
              <a:lnSpc>
                <a:spcPct val="115000"/>
              </a:lnSpc>
              <a:spcBef>
                <a:spcPts val="0"/>
              </a:spcBef>
              <a:spcAft>
                <a:spcPts val="0"/>
              </a:spcAft>
              <a:buSzPts val="1600"/>
              <a:buChar char="●"/>
            </a:pPr>
            <a:r>
              <a:rPr lang="en-US" sz="1600" b="1">
                <a:latin typeface="Arial" panose="020B0604020202020204"/>
                <a:ea typeface="Arial" panose="020B0604020202020204"/>
                <a:cs typeface="Arial" panose="020B0604020202020204"/>
                <a:sym typeface="Arial" panose="020B0604020202020204"/>
              </a:rPr>
              <a:t>Low awareness and adoption</a:t>
            </a:r>
            <a:r>
              <a:rPr lang="en-US" sz="1600">
                <a:latin typeface="Arial" panose="020B0604020202020204"/>
                <a:ea typeface="Arial" panose="020B0604020202020204"/>
                <a:cs typeface="Arial" panose="020B0604020202020204"/>
                <a:sym typeface="Arial" panose="020B0604020202020204"/>
              </a:rPr>
              <a:t> among rural farmers</a:t>
            </a:r>
            <a:endParaRPr sz="16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1200"/>
              </a:spcAft>
              <a:buNone/>
            </a:pPr>
            <a:endParaRPr sz="21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43" name="Shape 143"/>
        <p:cNvGrpSpPr/>
        <p:nvPr/>
      </p:nvGrpSpPr>
      <p:grpSpPr>
        <a:xfrm>
          <a:off x="0" y="0"/>
          <a:ext cx="0" cy="0"/>
          <a:chOff x="0" y="0"/>
          <a:chExt cx="0" cy="0"/>
        </a:xfrm>
      </p:grpSpPr>
      <p:sp>
        <p:nvSpPr>
          <p:cNvPr id="144" name="Google Shape;144;p22"/>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solidFill>
                  <a:schemeClr val="dk2"/>
                </a:solidFill>
              </a:rPr>
              <a:t>Proposed Method &amp; Feasibility Study</a:t>
            </a:r>
            <a:endParaRPr>
              <a:solidFill>
                <a:schemeClr val="dk2"/>
              </a:solidFill>
            </a:endParaRPr>
          </a:p>
        </p:txBody>
      </p:sp>
      <p:sp>
        <p:nvSpPr>
          <p:cNvPr id="145" name="Google Shape;145;p22"/>
          <p:cNvSpPr txBox="1"/>
          <p:nvPr>
            <p:ph type="body" idx="1"/>
          </p:nvPr>
        </p:nvSpPr>
        <p:spPr>
          <a:xfrm>
            <a:off x="309975" y="968650"/>
            <a:ext cx="11554200" cy="5157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1500" b="1">
                <a:latin typeface="Arial" panose="020B0604020202020204"/>
                <a:ea typeface="Arial" panose="020B0604020202020204"/>
                <a:cs typeface="Arial" panose="020B0604020202020204"/>
                <a:sym typeface="Arial" panose="020B0604020202020204"/>
              </a:rPr>
              <a:t>Proposed Methodology</a:t>
            </a:r>
            <a:endParaRPr sz="1500" b="1">
              <a:latin typeface="Arial" panose="020B0604020202020204"/>
              <a:ea typeface="Arial" panose="020B0604020202020204"/>
              <a:cs typeface="Arial" panose="020B0604020202020204"/>
              <a:sym typeface="Arial" panose="020B0604020202020204"/>
            </a:endParaRPr>
          </a:p>
          <a:p>
            <a:pPr marL="457200" lvl="0" indent="-311150" algn="l" rtl="0">
              <a:lnSpc>
                <a:spcPct val="115000"/>
              </a:lnSpc>
              <a:spcBef>
                <a:spcPts val="1200"/>
              </a:spcBef>
              <a:spcAft>
                <a:spcPts val="0"/>
              </a:spcAft>
              <a:buSzPts val="1300"/>
              <a:buChar char="●"/>
            </a:pPr>
            <a:r>
              <a:rPr lang="en-US" sz="1300" b="1">
                <a:latin typeface="Arial" panose="020B0604020202020204"/>
                <a:ea typeface="Arial" panose="020B0604020202020204"/>
                <a:cs typeface="Arial" panose="020B0604020202020204"/>
                <a:sym typeface="Arial" panose="020B0604020202020204"/>
              </a:rPr>
              <a:t>User-Centric Design</a:t>
            </a:r>
            <a:r>
              <a:rPr lang="en-US" sz="1300">
                <a:latin typeface="Arial" panose="020B0604020202020204"/>
                <a:ea typeface="Arial" panose="020B0604020202020204"/>
                <a:cs typeface="Arial" panose="020B0604020202020204"/>
                <a:sym typeface="Arial" panose="020B0604020202020204"/>
              </a:rPr>
              <a:t>: Simple and intuitive UI tailored for farmers and retailers</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457200" lvl="0" indent="-311150" algn="l" rtl="0">
              <a:lnSpc>
                <a:spcPct val="115000"/>
              </a:lnSpc>
              <a:spcBef>
                <a:spcPts val="0"/>
              </a:spcBef>
              <a:spcAft>
                <a:spcPts val="0"/>
              </a:spcAft>
              <a:buSzPts val="1300"/>
              <a:buChar char="●"/>
            </a:pPr>
            <a:r>
              <a:rPr lang="en-US" sz="1300" b="1">
                <a:latin typeface="Arial" panose="020B0604020202020204"/>
                <a:ea typeface="Arial" panose="020B0604020202020204"/>
                <a:cs typeface="Arial" panose="020B0604020202020204"/>
                <a:sym typeface="Arial" panose="020B0604020202020204"/>
              </a:rPr>
              <a:t>Multilingual Support</a:t>
            </a:r>
            <a:r>
              <a:rPr lang="en-US" sz="1300">
                <a:latin typeface="Arial" panose="020B0604020202020204"/>
                <a:ea typeface="Arial" panose="020B0604020202020204"/>
                <a:cs typeface="Arial" panose="020B0604020202020204"/>
                <a:sym typeface="Arial" panose="020B0604020202020204"/>
              </a:rPr>
              <a:t>: App available in English + regional languages for inclusivity</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457200" lvl="0" indent="-311150" algn="l" rtl="0">
              <a:lnSpc>
                <a:spcPct val="115000"/>
              </a:lnSpc>
              <a:spcBef>
                <a:spcPts val="0"/>
              </a:spcBef>
              <a:spcAft>
                <a:spcPts val="0"/>
              </a:spcAft>
              <a:buSzPts val="1300"/>
              <a:buChar char="●"/>
            </a:pPr>
            <a:r>
              <a:rPr lang="en-US" sz="1300" b="1">
                <a:latin typeface="Arial" panose="020B0604020202020204"/>
                <a:ea typeface="Arial" panose="020B0604020202020204"/>
                <a:cs typeface="Arial" panose="020B0604020202020204"/>
                <a:sym typeface="Arial" panose="020B0604020202020204"/>
              </a:rPr>
              <a:t>Voice Interaction</a:t>
            </a:r>
            <a:r>
              <a:rPr lang="en-US" sz="1300">
                <a:latin typeface="Arial" panose="020B0604020202020204"/>
                <a:ea typeface="Arial" panose="020B0604020202020204"/>
                <a:cs typeface="Arial" panose="020B0604020202020204"/>
                <a:sym typeface="Arial" panose="020B0604020202020204"/>
              </a:rPr>
              <a:t>:</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914400" lvl="1" indent="-311150" algn="l" rtl="0">
              <a:lnSpc>
                <a:spcPct val="115000"/>
              </a:lnSpc>
              <a:spcBef>
                <a:spcPts val="0"/>
              </a:spcBef>
              <a:spcAft>
                <a:spcPts val="0"/>
              </a:spcAft>
              <a:buSzPts val="1300"/>
              <a:buChar char="○"/>
            </a:pPr>
            <a:r>
              <a:rPr lang="en-US" sz="1300" b="1">
                <a:latin typeface="Arial" panose="020B0604020202020204"/>
                <a:ea typeface="Arial" panose="020B0604020202020204"/>
                <a:cs typeface="Arial" panose="020B0604020202020204"/>
                <a:sym typeface="Arial" panose="020B0604020202020204"/>
              </a:rPr>
              <a:t>Text-to-Speech (TTS)</a:t>
            </a:r>
            <a:r>
              <a:rPr lang="en-US" sz="1300">
                <a:latin typeface="Arial" panose="020B0604020202020204"/>
                <a:ea typeface="Arial" panose="020B0604020202020204"/>
                <a:cs typeface="Arial" panose="020B0604020202020204"/>
                <a:sym typeface="Arial" panose="020B0604020202020204"/>
              </a:rPr>
              <a:t>: Reads out </a:t>
            </a:r>
            <a:r>
              <a:rPr lang="en-US" sz="1300" b="1">
                <a:latin typeface="Arial" panose="020B0604020202020204"/>
                <a:ea typeface="Arial" panose="020B0604020202020204"/>
                <a:cs typeface="Arial" panose="020B0604020202020204"/>
                <a:sym typeface="Arial" panose="020B0604020202020204"/>
              </a:rPr>
              <a:t>messages during negotiations</a:t>
            </a:r>
            <a:r>
              <a:rPr lang="en-US" sz="1300">
                <a:latin typeface="Arial" panose="020B0604020202020204"/>
                <a:ea typeface="Arial" panose="020B0604020202020204"/>
                <a:cs typeface="Arial" panose="020B0604020202020204"/>
                <a:sym typeface="Arial" panose="020B0604020202020204"/>
              </a:rPr>
              <a:t> for better accessibility</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914400" lvl="1" indent="-311150" algn="l" rtl="0">
              <a:lnSpc>
                <a:spcPct val="115000"/>
              </a:lnSpc>
              <a:spcBef>
                <a:spcPts val="0"/>
              </a:spcBef>
              <a:spcAft>
                <a:spcPts val="0"/>
              </a:spcAft>
              <a:buSzPts val="1300"/>
              <a:buChar char="○"/>
            </a:pPr>
            <a:r>
              <a:rPr lang="en-US" sz="1300" b="1">
                <a:latin typeface="Arial" panose="020B0604020202020204"/>
                <a:ea typeface="Arial" panose="020B0604020202020204"/>
                <a:cs typeface="Arial" panose="020B0604020202020204"/>
                <a:sym typeface="Arial" panose="020B0604020202020204"/>
              </a:rPr>
              <a:t>Speech-to-Text (STT)</a:t>
            </a:r>
            <a:r>
              <a:rPr lang="en-US" sz="1300">
                <a:latin typeface="Arial" panose="020B0604020202020204"/>
                <a:ea typeface="Arial" panose="020B0604020202020204"/>
                <a:cs typeface="Arial" panose="020B0604020202020204"/>
                <a:sym typeface="Arial" panose="020B0604020202020204"/>
              </a:rPr>
              <a:t>: Google Keyboard used for input, enabling farmers to speak instead of typing</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457200" lvl="0" indent="-311150" algn="l" rtl="0">
              <a:lnSpc>
                <a:spcPct val="115000"/>
              </a:lnSpc>
              <a:spcBef>
                <a:spcPts val="0"/>
              </a:spcBef>
              <a:spcAft>
                <a:spcPts val="0"/>
              </a:spcAft>
              <a:buSzPts val="1300"/>
              <a:buChar char="●"/>
            </a:pPr>
            <a:r>
              <a:rPr lang="en-US" sz="1300" b="1">
                <a:latin typeface="Arial" panose="020B0604020202020204"/>
                <a:ea typeface="Arial" panose="020B0604020202020204"/>
                <a:cs typeface="Arial" panose="020B0604020202020204"/>
                <a:sym typeface="Arial" panose="020B0604020202020204"/>
              </a:rPr>
              <a:t>Core Features</a:t>
            </a:r>
            <a:r>
              <a:rPr lang="en-US" sz="1300">
                <a:latin typeface="Arial" panose="020B0604020202020204"/>
                <a:ea typeface="Arial" panose="020B0604020202020204"/>
                <a:cs typeface="Arial" panose="020B0604020202020204"/>
                <a:sym typeface="Arial" panose="020B0604020202020204"/>
              </a:rPr>
              <a:t>:</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914400" lvl="1" indent="-311150" algn="l" rtl="0">
              <a:lnSpc>
                <a:spcPct val="115000"/>
              </a:lnSpc>
              <a:spcBef>
                <a:spcPts val="0"/>
              </a:spcBef>
              <a:spcAft>
                <a:spcPts val="0"/>
              </a:spcAft>
              <a:buSzPts val="1300"/>
              <a:buChar char="○"/>
            </a:pPr>
            <a:r>
              <a:rPr lang="en-US" sz="1300">
                <a:latin typeface="Arial" panose="020B0604020202020204"/>
                <a:ea typeface="Arial" panose="020B0604020202020204"/>
                <a:cs typeface="Arial" panose="020B0604020202020204"/>
                <a:sym typeface="Arial" panose="020B0604020202020204"/>
              </a:rPr>
              <a:t>Farmer: Add/Delete crops, manage listings, negotiate with buyers</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914400" lvl="1" indent="-311150" algn="l" rtl="0">
              <a:lnSpc>
                <a:spcPct val="115000"/>
              </a:lnSpc>
              <a:spcBef>
                <a:spcPts val="0"/>
              </a:spcBef>
              <a:spcAft>
                <a:spcPts val="0"/>
              </a:spcAft>
              <a:buSzPts val="1300"/>
              <a:buChar char="○"/>
            </a:pPr>
            <a:r>
              <a:rPr lang="en-US" sz="1300">
                <a:latin typeface="Arial" panose="020B0604020202020204"/>
                <a:ea typeface="Arial" panose="020B0604020202020204"/>
                <a:cs typeface="Arial" panose="020B0604020202020204"/>
                <a:sym typeface="Arial" panose="020B0604020202020204"/>
              </a:rPr>
              <a:t>Retailer: Browse, negotiate, and purchase crops directly</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914400" lvl="1" indent="-311150" algn="l" rtl="0">
              <a:lnSpc>
                <a:spcPct val="115000"/>
              </a:lnSpc>
              <a:spcBef>
                <a:spcPts val="0"/>
              </a:spcBef>
              <a:spcAft>
                <a:spcPts val="0"/>
              </a:spcAft>
              <a:buSzPts val="1300"/>
              <a:buChar char="○"/>
            </a:pPr>
            <a:r>
              <a:rPr lang="en-US" sz="1300">
                <a:latin typeface="Arial" panose="020B0604020202020204"/>
                <a:ea typeface="Arial" panose="020B0604020202020204"/>
                <a:cs typeface="Arial" panose="020B0604020202020204"/>
                <a:sym typeface="Arial" panose="020B0604020202020204"/>
              </a:rPr>
              <a:t>Secure digital payments &amp; order tracking</a:t>
            </a:r>
            <a:br>
              <a:rPr lang="en-US" sz="1300">
                <a:latin typeface="Arial" panose="020B0604020202020204"/>
                <a:ea typeface="Arial" panose="020B0604020202020204"/>
                <a:cs typeface="Arial" panose="020B0604020202020204"/>
                <a:sym typeface="Arial" panose="020B0604020202020204"/>
              </a:rPr>
            </a:br>
            <a:endParaRPr sz="1300">
              <a:latin typeface="Arial" panose="020B0604020202020204"/>
              <a:ea typeface="Arial" panose="020B0604020202020204"/>
              <a:cs typeface="Arial" panose="020B0604020202020204"/>
              <a:sym typeface="Arial" panose="020B0604020202020204"/>
            </a:endParaRPr>
          </a:p>
          <a:p>
            <a:pPr marL="457200" lvl="0" indent="-311150" algn="l" rtl="0">
              <a:lnSpc>
                <a:spcPct val="115000"/>
              </a:lnSpc>
              <a:spcBef>
                <a:spcPts val="0"/>
              </a:spcBef>
              <a:spcAft>
                <a:spcPts val="0"/>
              </a:spcAft>
              <a:buSzPts val="1300"/>
              <a:buChar char="●"/>
            </a:pPr>
            <a:r>
              <a:rPr lang="en-US" sz="1300" b="1">
                <a:latin typeface="Arial" panose="020B0604020202020204"/>
                <a:ea typeface="Arial" panose="020B0604020202020204"/>
                <a:cs typeface="Arial" panose="020B0604020202020204"/>
                <a:sym typeface="Arial" panose="020B0604020202020204"/>
              </a:rPr>
              <a:t>Backend</a:t>
            </a:r>
            <a:r>
              <a:rPr lang="en-US" sz="1300">
                <a:latin typeface="Arial" panose="020B0604020202020204"/>
                <a:ea typeface="Arial" panose="020B0604020202020204"/>
                <a:cs typeface="Arial" panose="020B0604020202020204"/>
                <a:sym typeface="Arial" panose="020B0604020202020204"/>
              </a:rPr>
              <a:t>: Cloud-based API + database for scalability and faster access</a:t>
            </a:r>
            <a:endParaRPr sz="1300">
              <a:latin typeface="Arial" panose="020B0604020202020204"/>
              <a:ea typeface="Arial" panose="020B0604020202020204"/>
              <a:cs typeface="Arial" panose="020B0604020202020204"/>
              <a:sym typeface="Arial" panose="020B0604020202020204"/>
            </a:endParaRPr>
          </a:p>
          <a:p>
            <a:pPr marL="152400" lvl="0" indent="0" algn="l" rtl="0">
              <a:lnSpc>
                <a:spcPct val="130000"/>
              </a:lnSpc>
              <a:spcBef>
                <a:spcPts val="1200"/>
              </a:spcBef>
              <a:spcAft>
                <a:spcPts val="0"/>
              </a:spcAft>
              <a:buSzPts val="1665"/>
              <a:buFont typeface="Arial" panose="020B0604020202020204"/>
              <a:buNone/>
            </a:pPr>
            <a:endParaRPr sz="180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49" name="Shape 149"/>
        <p:cNvGrpSpPr/>
        <p:nvPr/>
      </p:nvGrpSpPr>
      <p:grpSpPr>
        <a:xfrm>
          <a:off x="0" y="0"/>
          <a:ext cx="0" cy="0"/>
          <a:chOff x="0" y="0"/>
          <a:chExt cx="0" cy="0"/>
        </a:xfrm>
      </p:grpSpPr>
      <p:sp>
        <p:nvSpPr>
          <p:cNvPr id="150" name="Google Shape;150;p23"/>
          <p:cNvSpPr txBox="1"/>
          <p:nvPr>
            <p:ph type="title"/>
          </p:nvPr>
        </p:nvSpPr>
        <p:spPr>
          <a:xfrm>
            <a:off x="812800" y="274662"/>
            <a:ext cx="10668000" cy="9729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solidFill>
                  <a:schemeClr val="dk2"/>
                </a:solidFill>
              </a:rPr>
              <a:t>Proposed Method &amp; Feasibility Study</a:t>
            </a:r>
            <a:endParaRPr>
              <a:solidFill>
                <a:schemeClr val="dk2"/>
              </a:solidFill>
            </a:endParaRPr>
          </a:p>
          <a:p>
            <a:pPr marL="0" lvl="0" indent="0" algn="l" rtl="0">
              <a:spcBef>
                <a:spcPts val="0"/>
              </a:spcBef>
              <a:spcAft>
                <a:spcPts val="0"/>
              </a:spcAft>
              <a:buNone/>
            </a:pPr>
          </a:p>
        </p:txBody>
      </p:sp>
      <p:sp>
        <p:nvSpPr>
          <p:cNvPr id="151" name="Google Shape;151;p23"/>
          <p:cNvSpPr txBox="1"/>
          <p:nvPr>
            <p:ph type="body" idx="1"/>
          </p:nvPr>
        </p:nvSpPr>
        <p:spPr>
          <a:xfrm>
            <a:off x="609600" y="1600200"/>
            <a:ext cx="11022000" cy="4526100"/>
          </a:xfrm>
          <a:prstGeom prst="rect">
            <a:avLst/>
          </a:prstGeom>
        </p:spPr>
        <p:txBody>
          <a:bodyPr spcFirstLastPara="1" wrap="square" lIns="91425" tIns="45700" rIns="91425" bIns="45700" anchor="t" anchorCtr="0">
            <a:noAutofit/>
          </a:bodyPr>
          <a:lstStyle/>
          <a:p>
            <a:pPr marL="0" lvl="0" indent="0" algn="l" rtl="0">
              <a:lnSpc>
                <a:spcPct val="115000"/>
              </a:lnSpc>
              <a:spcBef>
                <a:spcPts val="1400"/>
              </a:spcBef>
              <a:spcAft>
                <a:spcPts val="0"/>
              </a:spcAft>
              <a:buClr>
                <a:schemeClr val="dk1"/>
              </a:buClr>
              <a:buSzPts val="1100"/>
              <a:buFont typeface="Arial" panose="020B0604020202020204"/>
              <a:buNone/>
            </a:pPr>
            <a:r>
              <a:rPr lang="en-US" sz="1900" b="1">
                <a:latin typeface="Arial" panose="020B0604020202020204"/>
                <a:ea typeface="Arial" panose="020B0604020202020204"/>
                <a:cs typeface="Arial" panose="020B0604020202020204"/>
                <a:sym typeface="Arial" panose="020B0604020202020204"/>
              </a:rPr>
              <a:t>Feasibility Study</a:t>
            </a:r>
            <a:endParaRPr sz="1900" b="1">
              <a:latin typeface="Arial" panose="020B0604020202020204"/>
              <a:ea typeface="Arial" panose="020B0604020202020204"/>
              <a:cs typeface="Arial" panose="020B0604020202020204"/>
              <a:sym typeface="Arial" panose="020B0604020202020204"/>
            </a:endParaRPr>
          </a:p>
          <a:p>
            <a:pPr marL="457200" lvl="0" indent="-336550" algn="l" rtl="0">
              <a:lnSpc>
                <a:spcPct val="115000"/>
              </a:lnSpc>
              <a:spcBef>
                <a:spcPts val="1200"/>
              </a:spcBef>
              <a:spcAft>
                <a:spcPts val="0"/>
              </a:spcAft>
              <a:buSzPts val="1700"/>
              <a:buChar char="●"/>
            </a:pPr>
            <a:r>
              <a:rPr lang="en-US" sz="1700" b="1">
                <a:latin typeface="Arial" panose="020B0604020202020204"/>
                <a:ea typeface="Arial" panose="020B0604020202020204"/>
                <a:cs typeface="Arial" panose="020B0604020202020204"/>
                <a:sym typeface="Arial" panose="020B0604020202020204"/>
              </a:rPr>
              <a:t>Technically viable</a:t>
            </a:r>
            <a:r>
              <a:rPr lang="en-US" sz="1700">
                <a:latin typeface="Arial" panose="020B0604020202020204"/>
                <a:ea typeface="Arial" panose="020B0604020202020204"/>
                <a:cs typeface="Arial" panose="020B0604020202020204"/>
                <a:sym typeface="Arial" panose="020B0604020202020204"/>
              </a:rPr>
              <a:t> with React Native (cross-platform), FastAPI backend, Supabase DB, and Google STT(for negotiations)</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336550" algn="l" rtl="0">
              <a:lnSpc>
                <a:spcPct val="115000"/>
              </a:lnSpc>
              <a:spcBef>
                <a:spcPts val="0"/>
              </a:spcBef>
              <a:spcAft>
                <a:spcPts val="0"/>
              </a:spcAft>
              <a:buSzPts val="1700"/>
              <a:buChar char="●"/>
            </a:pPr>
            <a:r>
              <a:rPr lang="en-US" sz="1700" b="1">
                <a:latin typeface="Arial" panose="020B0604020202020204"/>
                <a:ea typeface="Arial" panose="020B0604020202020204"/>
                <a:cs typeface="Arial" panose="020B0604020202020204"/>
                <a:sym typeface="Arial" panose="020B0604020202020204"/>
              </a:rPr>
              <a:t>Operationally practical</a:t>
            </a:r>
            <a:r>
              <a:rPr lang="en-US" sz="1700">
                <a:latin typeface="Arial" panose="020B0604020202020204"/>
                <a:ea typeface="Arial" panose="020B0604020202020204"/>
                <a:cs typeface="Arial" panose="020B0604020202020204"/>
                <a:sym typeface="Arial" panose="020B0604020202020204"/>
              </a:rPr>
              <a:t> as farmers use voice support and retailers get real-time.</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336550" algn="l" rtl="0">
              <a:lnSpc>
                <a:spcPct val="115000"/>
              </a:lnSpc>
              <a:spcBef>
                <a:spcPts val="0"/>
              </a:spcBef>
              <a:spcAft>
                <a:spcPts val="0"/>
              </a:spcAft>
              <a:buSzPts val="1700"/>
              <a:buChar char="●"/>
            </a:pPr>
            <a:r>
              <a:rPr lang="en-US" sz="1700" b="1">
                <a:latin typeface="Arial" panose="020B0604020202020204"/>
                <a:ea typeface="Arial" panose="020B0604020202020204"/>
                <a:cs typeface="Arial" panose="020B0604020202020204"/>
                <a:sym typeface="Arial" panose="020B0604020202020204"/>
              </a:rPr>
              <a:t>Economically feasible</a:t>
            </a:r>
            <a:r>
              <a:rPr lang="en-US" sz="1700">
                <a:latin typeface="Arial" panose="020B0604020202020204"/>
                <a:ea typeface="Arial" panose="020B0604020202020204"/>
                <a:cs typeface="Arial" panose="020B0604020202020204"/>
                <a:sym typeface="Arial" panose="020B0604020202020204"/>
              </a:rPr>
              <a:t> with low-cost open-source tools and revenue via transaction fees/premium features</a:t>
            </a:r>
            <a:br>
              <a:rPr lang="en-US" sz="1700">
                <a:latin typeface="Arial" panose="020B0604020202020204"/>
                <a:ea typeface="Arial" panose="020B0604020202020204"/>
                <a:cs typeface="Arial" panose="020B0604020202020204"/>
                <a:sym typeface="Arial" panose="020B0604020202020204"/>
              </a:rPr>
            </a:br>
            <a:endParaRPr sz="1700">
              <a:latin typeface="Arial" panose="020B0604020202020204"/>
              <a:ea typeface="Arial" panose="020B0604020202020204"/>
              <a:cs typeface="Arial" panose="020B0604020202020204"/>
              <a:sym typeface="Arial" panose="020B0604020202020204"/>
            </a:endParaRPr>
          </a:p>
          <a:p>
            <a:pPr marL="457200" lvl="0" indent="-336550" algn="l" rtl="0">
              <a:lnSpc>
                <a:spcPct val="115000"/>
              </a:lnSpc>
              <a:spcBef>
                <a:spcPts val="0"/>
              </a:spcBef>
              <a:spcAft>
                <a:spcPts val="0"/>
              </a:spcAft>
              <a:buSzPts val="1700"/>
              <a:buChar char="●"/>
            </a:pPr>
            <a:r>
              <a:rPr lang="en-US" sz="1700" b="1">
                <a:latin typeface="Arial" panose="020B0604020202020204"/>
                <a:ea typeface="Arial" panose="020B0604020202020204"/>
                <a:cs typeface="Arial" panose="020B0604020202020204"/>
                <a:sym typeface="Arial" panose="020B0604020202020204"/>
              </a:rPr>
              <a:t>Socially impactful</a:t>
            </a:r>
            <a:r>
              <a:rPr lang="en-US" sz="1700">
                <a:latin typeface="Arial" panose="020B0604020202020204"/>
                <a:ea typeface="Arial" panose="020B0604020202020204"/>
                <a:cs typeface="Arial" panose="020B0604020202020204"/>
                <a:sym typeface="Arial" panose="020B0604020202020204"/>
              </a:rPr>
              <a:t> by boosting farmer income, promoting digital inclusion, and ensuring transparency</a:t>
            </a:r>
            <a:endParaRPr sz="1700">
              <a:latin typeface="Arial" panose="020B0604020202020204"/>
              <a:ea typeface="Arial" panose="020B0604020202020204"/>
              <a:cs typeface="Arial" panose="020B0604020202020204"/>
              <a:sym typeface="Arial" panose="020B0604020202020204"/>
            </a:endParaRPr>
          </a:p>
          <a:p>
            <a:pPr marL="0" lvl="0" indent="0" algn="l" rtl="0">
              <a:lnSpc>
                <a:spcPct val="80000"/>
              </a:lnSpc>
              <a:spcBef>
                <a:spcPts val="1200"/>
              </a:spcBef>
              <a:spcAft>
                <a:spcPts val="0"/>
              </a:spcAft>
              <a:buSzPts val="688"/>
              <a:buNone/>
            </a:pPr>
            <a:endParaRPr sz="1810" b="1">
              <a:latin typeface="Arial" panose="020B0604020202020204"/>
              <a:ea typeface="Arial" panose="020B0604020202020204"/>
              <a:cs typeface="Arial" panose="020B0604020202020204"/>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55" name="Shape 155"/>
        <p:cNvGrpSpPr/>
        <p:nvPr/>
      </p:nvGrpSpPr>
      <p:grpSpPr>
        <a:xfrm>
          <a:off x="0" y="0"/>
          <a:ext cx="0" cy="0"/>
          <a:chOff x="0" y="0"/>
          <a:chExt cx="0" cy="0"/>
        </a:xfrm>
      </p:grpSpPr>
      <p:sp>
        <p:nvSpPr>
          <p:cNvPr id="156" name="Google Shape;156;p24"/>
          <p:cNvSpPr txBox="1"/>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a:t>Architecture Diagram</a:t>
            </a:r>
            <a:endParaRPr lang="en-US"/>
          </a:p>
        </p:txBody>
      </p:sp>
      <p:sp>
        <p:nvSpPr>
          <p:cNvPr id="157" name="Google Shape;157;p24"/>
          <p:cNvSpPr txBox="1"/>
          <p:nvPr>
            <p:ph type="body" idx="1"/>
          </p:nvPr>
        </p:nvSpPr>
        <p:spPr>
          <a:xfrm>
            <a:off x="812800" y="1143001"/>
            <a:ext cx="10668000" cy="4953000"/>
          </a:xfrm>
          <a:prstGeom prst="rect">
            <a:avLst/>
          </a:prstGeom>
        </p:spPr>
        <p:txBody>
          <a:bodyPr spcFirstLastPara="1" wrap="square" lIns="91425" tIns="45700" rIns="91425" bIns="45700" anchor="t" anchorCtr="0">
            <a:normAutofit/>
          </a:bodyPr>
          <a:lstStyle/>
          <a:p>
            <a:pPr marL="0" lvl="0" indent="0" algn="l" rtl="0">
              <a:spcBef>
                <a:spcPts val="480"/>
              </a:spcBef>
              <a:spcAft>
                <a:spcPts val="0"/>
              </a:spcAft>
              <a:buNone/>
            </a:pPr>
          </a:p>
        </p:txBody>
      </p:sp>
      <p:pic>
        <p:nvPicPr>
          <p:cNvPr id="158" name="Google Shape;158;p24" title="ChatGPT Image Sep 9, 2025, 11_48_24 AM.png"/>
          <p:cNvPicPr preferRelativeResize="0"/>
          <p:nvPr/>
        </p:nvPicPr>
        <p:blipFill>
          <a:blip r:embed="rId1"/>
          <a:stretch>
            <a:fillRect/>
          </a:stretch>
        </p:blipFill>
        <p:spPr>
          <a:xfrm>
            <a:off x="571500" y="1143000"/>
            <a:ext cx="10668000" cy="531205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62" name="Shape 162"/>
        <p:cNvGrpSpPr/>
        <p:nvPr/>
      </p:nvGrpSpPr>
      <p:grpSpPr>
        <a:xfrm>
          <a:off x="0" y="0"/>
          <a:ext cx="0" cy="0"/>
          <a:chOff x="0" y="0"/>
          <a:chExt cx="0" cy="0"/>
        </a:xfrm>
      </p:grpSpPr>
      <p:sp>
        <p:nvSpPr>
          <p:cNvPr id="163" name="Google Shape;163;p25"/>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t>Modules</a:t>
            </a:r>
            <a:endParaRPr lang="en-US"/>
          </a:p>
        </p:txBody>
      </p:sp>
      <p:sp>
        <p:nvSpPr>
          <p:cNvPr id="164" name="Google Shape;164;p25"/>
          <p:cNvSpPr txBox="1"/>
          <p:nvPr>
            <p:ph type="body" idx="1"/>
          </p:nvPr>
        </p:nvSpPr>
        <p:spPr>
          <a:xfrm>
            <a:off x="812800" y="1143000"/>
            <a:ext cx="10668000" cy="4953000"/>
          </a:xfrm>
          <a:prstGeom prst="rect">
            <a:avLst/>
          </a:prstGeom>
          <a:noFill/>
          <a:ln>
            <a:noFill/>
          </a:ln>
        </p:spPr>
        <p:txBody>
          <a:bodyPr spcFirstLastPara="1" wrap="square" lIns="91425" tIns="45700" rIns="91425" bIns="45700" anchor="t" anchorCtr="0">
            <a:noAutofit/>
          </a:bodyPr>
          <a:lstStyle/>
          <a:p>
            <a:pPr marL="457200" lvl="0" indent="0" algn="l" rtl="0">
              <a:lnSpc>
                <a:spcPct val="150000"/>
              </a:lnSpc>
              <a:spcBef>
                <a:spcPts val="0"/>
              </a:spcBef>
              <a:spcAft>
                <a:spcPts val="0"/>
              </a:spcAft>
              <a:buNone/>
            </a:pPr>
            <a:r>
              <a:rPr lang="en-US" sz="1900" b="1">
                <a:latin typeface="Cambria" panose="02040503050406030204"/>
                <a:ea typeface="Cambria" panose="02040503050406030204"/>
                <a:cs typeface="Cambria" panose="02040503050406030204"/>
                <a:sym typeface="Cambria" panose="02040503050406030204"/>
              </a:rPr>
              <a:t>U</a:t>
            </a:r>
            <a:r>
              <a:rPr lang="en-US" sz="1900" b="1">
                <a:latin typeface="Cambria" panose="02040503050406030204"/>
                <a:ea typeface="Cambria" panose="02040503050406030204"/>
                <a:cs typeface="Cambria" panose="02040503050406030204"/>
                <a:sym typeface="Cambria" panose="02040503050406030204"/>
              </a:rPr>
              <a:t>ser Authentication &amp; Role Management</a:t>
            </a:r>
            <a:endParaRPr sz="1900" b="1">
              <a:latin typeface="Cambria" panose="02040503050406030204"/>
              <a:ea typeface="Cambria" panose="02040503050406030204"/>
              <a:cs typeface="Cambria" panose="02040503050406030204"/>
              <a:sym typeface="Cambria" panose="02040503050406030204"/>
            </a:endParaRPr>
          </a:p>
          <a:p>
            <a:pPr marL="495300" lvl="0" indent="-400050" algn="l" rtl="0">
              <a:lnSpc>
                <a:spcPct val="150000"/>
              </a:lnSpc>
              <a:spcBef>
                <a:spcPts val="0"/>
              </a:spcBef>
              <a:spcAft>
                <a:spcPts val="0"/>
              </a:spcAft>
              <a:buSzPts val="1900"/>
              <a:buChar char="•"/>
            </a:pPr>
            <a:r>
              <a:rPr lang="en-US" sz="1900">
                <a:latin typeface="Cambria" panose="02040503050406030204"/>
                <a:ea typeface="Cambria" panose="02040503050406030204"/>
                <a:cs typeface="Cambria" panose="02040503050406030204"/>
                <a:sym typeface="Cambria" panose="02040503050406030204"/>
              </a:rPr>
              <a:t>Farmer/Retailer login &amp; signup</a:t>
            </a:r>
            <a:endParaRPr sz="1900">
              <a:latin typeface="Cambria" panose="02040503050406030204"/>
              <a:ea typeface="Cambria" panose="02040503050406030204"/>
              <a:cs typeface="Cambria" panose="02040503050406030204"/>
              <a:sym typeface="Cambria" panose="02040503050406030204"/>
            </a:endParaRPr>
          </a:p>
          <a:p>
            <a:pPr marL="457200" lvl="0" indent="0" algn="l" rtl="0">
              <a:lnSpc>
                <a:spcPct val="150000"/>
              </a:lnSpc>
              <a:spcBef>
                <a:spcPts val="0"/>
              </a:spcBef>
              <a:spcAft>
                <a:spcPts val="0"/>
              </a:spcAft>
              <a:buNone/>
            </a:pPr>
            <a:endParaRPr sz="1900">
              <a:latin typeface="Cambria" panose="02040503050406030204"/>
              <a:ea typeface="Cambria" panose="02040503050406030204"/>
              <a:cs typeface="Cambria" panose="02040503050406030204"/>
              <a:sym typeface="Cambria" panose="02040503050406030204"/>
            </a:endParaRPr>
          </a:p>
          <a:p>
            <a:pPr marL="457200" lvl="0" indent="0" algn="l" rtl="0">
              <a:lnSpc>
                <a:spcPct val="150000"/>
              </a:lnSpc>
              <a:spcBef>
                <a:spcPts val="0"/>
              </a:spcBef>
              <a:spcAft>
                <a:spcPts val="0"/>
              </a:spcAft>
              <a:buNone/>
            </a:pPr>
            <a:r>
              <a:rPr lang="en-US" sz="1900" b="1">
                <a:latin typeface="Cambria" panose="02040503050406030204"/>
                <a:ea typeface="Cambria" panose="02040503050406030204"/>
                <a:cs typeface="Cambria" panose="02040503050406030204"/>
                <a:sym typeface="Cambria" panose="02040503050406030204"/>
              </a:rPr>
              <a:t>Produce Listing Module</a:t>
            </a:r>
            <a:endParaRPr sz="1900" b="1">
              <a:latin typeface="Cambria" panose="02040503050406030204"/>
              <a:ea typeface="Cambria" panose="02040503050406030204"/>
              <a:cs typeface="Cambria" panose="02040503050406030204"/>
              <a:sym typeface="Cambria" panose="02040503050406030204"/>
            </a:endParaRPr>
          </a:p>
          <a:p>
            <a:pPr marL="495300" lvl="0" indent="-400050" algn="l" rtl="0">
              <a:lnSpc>
                <a:spcPct val="150000"/>
              </a:lnSpc>
              <a:spcBef>
                <a:spcPts val="0"/>
              </a:spcBef>
              <a:spcAft>
                <a:spcPts val="0"/>
              </a:spcAft>
              <a:buSzPts val="1900"/>
              <a:buChar char="•"/>
            </a:pPr>
            <a:r>
              <a:rPr lang="en-US" sz="1900">
                <a:latin typeface="Cambria" panose="02040503050406030204"/>
                <a:ea typeface="Cambria" panose="02040503050406030204"/>
                <a:cs typeface="Cambria" panose="02040503050406030204"/>
                <a:sym typeface="Cambria" panose="02040503050406030204"/>
              </a:rPr>
              <a:t>Add crops with details, quantity, images</a:t>
            </a:r>
            <a:endParaRPr sz="1900">
              <a:latin typeface="Cambria" panose="02040503050406030204"/>
              <a:ea typeface="Cambria" panose="02040503050406030204"/>
              <a:cs typeface="Cambria" panose="02040503050406030204"/>
              <a:sym typeface="Cambria" panose="02040503050406030204"/>
            </a:endParaRPr>
          </a:p>
          <a:p>
            <a:pPr marL="457200" lvl="0" indent="0" algn="l" rtl="0">
              <a:lnSpc>
                <a:spcPct val="150000"/>
              </a:lnSpc>
              <a:spcBef>
                <a:spcPts val="0"/>
              </a:spcBef>
              <a:spcAft>
                <a:spcPts val="0"/>
              </a:spcAft>
              <a:buNone/>
            </a:pPr>
            <a:endParaRPr sz="1900">
              <a:latin typeface="Cambria" panose="02040503050406030204"/>
              <a:ea typeface="Cambria" panose="02040503050406030204"/>
              <a:cs typeface="Cambria" panose="02040503050406030204"/>
              <a:sym typeface="Cambria" panose="02040503050406030204"/>
            </a:endParaRPr>
          </a:p>
          <a:p>
            <a:pPr marL="457200" lvl="0" indent="0" algn="l" rtl="0">
              <a:lnSpc>
                <a:spcPct val="150000"/>
              </a:lnSpc>
              <a:spcBef>
                <a:spcPts val="0"/>
              </a:spcBef>
              <a:spcAft>
                <a:spcPts val="0"/>
              </a:spcAft>
              <a:buNone/>
            </a:pPr>
            <a:r>
              <a:rPr lang="en-US" sz="1900" b="1">
                <a:latin typeface="Cambria" panose="02040503050406030204"/>
                <a:ea typeface="Cambria" panose="02040503050406030204"/>
                <a:cs typeface="Cambria" panose="02040503050406030204"/>
                <a:sym typeface="Cambria" panose="02040503050406030204"/>
              </a:rPr>
              <a:t>Negotiation &amp; Order Module</a:t>
            </a:r>
            <a:endParaRPr sz="1900" b="1">
              <a:latin typeface="Cambria" panose="02040503050406030204"/>
              <a:ea typeface="Cambria" panose="02040503050406030204"/>
              <a:cs typeface="Cambria" panose="02040503050406030204"/>
              <a:sym typeface="Cambria" panose="02040503050406030204"/>
            </a:endParaRPr>
          </a:p>
          <a:p>
            <a:pPr marL="495300" lvl="0" indent="-400050" algn="l" rtl="0">
              <a:lnSpc>
                <a:spcPct val="150000"/>
              </a:lnSpc>
              <a:spcBef>
                <a:spcPts val="0"/>
              </a:spcBef>
              <a:spcAft>
                <a:spcPts val="0"/>
              </a:spcAft>
              <a:buSzPts val="1900"/>
              <a:buChar char="•"/>
            </a:pPr>
            <a:r>
              <a:rPr lang="en-US" sz="1900">
                <a:latin typeface="Cambria" panose="02040503050406030204"/>
                <a:ea typeface="Cambria" panose="02040503050406030204"/>
                <a:cs typeface="Cambria" panose="02040503050406030204"/>
                <a:sym typeface="Cambria" panose="02040503050406030204"/>
              </a:rPr>
              <a:t>Direct negotiation, order placement, and tracking</a:t>
            </a:r>
            <a:endParaRPr sz="1900">
              <a:latin typeface="Cambria" panose="02040503050406030204"/>
              <a:ea typeface="Cambria" panose="02040503050406030204"/>
              <a:cs typeface="Cambria" panose="02040503050406030204"/>
              <a:sym typeface="Cambria" panose="02040503050406030204"/>
            </a:endParaRPr>
          </a:p>
          <a:p>
            <a:pPr marL="0" lvl="0" indent="0" algn="l" rtl="0">
              <a:lnSpc>
                <a:spcPct val="150000"/>
              </a:lnSpc>
              <a:spcBef>
                <a:spcPts val="0"/>
              </a:spcBef>
              <a:spcAft>
                <a:spcPts val="0"/>
              </a:spcAft>
              <a:buNone/>
            </a:pPr>
            <a:endParaRPr sz="1900">
              <a:latin typeface="Cambria" panose="02040503050406030204"/>
              <a:ea typeface="Cambria" panose="02040503050406030204"/>
              <a:cs typeface="Cambria" panose="02040503050406030204"/>
              <a:sym typeface="Cambria" panose="02040503050406030204"/>
            </a:endParaRPr>
          </a:p>
          <a:p>
            <a:pPr marL="0" lvl="0" indent="457200" algn="l" rtl="0">
              <a:lnSpc>
                <a:spcPct val="150000"/>
              </a:lnSpc>
              <a:spcBef>
                <a:spcPts val="0"/>
              </a:spcBef>
              <a:spcAft>
                <a:spcPts val="0"/>
              </a:spcAft>
              <a:buNone/>
            </a:pPr>
            <a:r>
              <a:rPr lang="en-US" sz="1900" b="1">
                <a:latin typeface="Cambria" panose="02040503050406030204"/>
                <a:ea typeface="Cambria" panose="02040503050406030204"/>
                <a:cs typeface="Cambria" panose="02040503050406030204"/>
                <a:sym typeface="Cambria" panose="02040503050406030204"/>
              </a:rPr>
              <a:t>Payment &amp; Transaction Module</a:t>
            </a:r>
            <a:endParaRPr sz="1900" b="1">
              <a:latin typeface="Cambria" panose="02040503050406030204"/>
              <a:ea typeface="Cambria" panose="02040503050406030204"/>
              <a:cs typeface="Cambria" panose="02040503050406030204"/>
              <a:sym typeface="Cambria" panose="02040503050406030204"/>
            </a:endParaRPr>
          </a:p>
          <a:p>
            <a:pPr marL="495300" lvl="0" indent="-400050" algn="l" rtl="0">
              <a:lnSpc>
                <a:spcPct val="150000"/>
              </a:lnSpc>
              <a:spcBef>
                <a:spcPts val="0"/>
              </a:spcBef>
              <a:spcAft>
                <a:spcPts val="0"/>
              </a:spcAft>
              <a:buSzPts val="1900"/>
              <a:buChar char="•"/>
            </a:pPr>
            <a:r>
              <a:rPr lang="en-US" sz="1900">
                <a:latin typeface="Cambria" panose="02040503050406030204"/>
                <a:ea typeface="Cambria" panose="02040503050406030204"/>
                <a:cs typeface="Cambria" panose="02040503050406030204"/>
                <a:sym typeface="Cambria" panose="02040503050406030204"/>
              </a:rPr>
              <a:t>Demo digital payments with receipts</a:t>
            </a:r>
            <a:endParaRPr sz="19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68" name="Shape 168"/>
        <p:cNvGrpSpPr/>
        <p:nvPr/>
      </p:nvGrpSpPr>
      <p:grpSpPr>
        <a:xfrm>
          <a:off x="0" y="0"/>
          <a:ext cx="0" cy="0"/>
          <a:chOff x="0" y="0"/>
          <a:chExt cx="0" cy="0"/>
        </a:xfrm>
      </p:grpSpPr>
      <p:sp>
        <p:nvSpPr>
          <p:cNvPr id="169" name="Google Shape;169;p26"/>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solidFill>
                  <a:srgbClr val="17365D"/>
                </a:solidFill>
              </a:rPr>
              <a:t>Software &amp; Hardware Requirements</a:t>
            </a:r>
            <a:endParaRPr lang="en-US">
              <a:solidFill>
                <a:srgbClr val="17365D"/>
              </a:solidFill>
            </a:endParaRPr>
          </a:p>
        </p:txBody>
      </p:sp>
      <p:sp>
        <p:nvSpPr>
          <p:cNvPr id="170" name="Google Shape;170;p26"/>
          <p:cNvSpPr txBox="1"/>
          <p:nvPr>
            <p:ph type="body" idx="1"/>
          </p:nvPr>
        </p:nvSpPr>
        <p:spPr>
          <a:xfrm>
            <a:off x="193725" y="922150"/>
            <a:ext cx="11287200" cy="5173800"/>
          </a:xfrm>
          <a:prstGeom prst="rect">
            <a:avLst/>
          </a:prstGeom>
          <a:noFill/>
          <a:ln>
            <a:noFill/>
          </a:ln>
        </p:spPr>
        <p:txBody>
          <a:bodyPr spcFirstLastPara="1" wrap="square" lIns="91425" tIns="45700" rIns="91425" bIns="45700" anchor="t" anchorCtr="0">
            <a:normAutofit fontScale="85000" lnSpcReduction="20000"/>
          </a:bodyPr>
          <a:lstStyle/>
          <a:p>
            <a:pPr marL="457200" lvl="0" indent="0" algn="l" rtl="0">
              <a:lnSpc>
                <a:spcPct val="200000"/>
              </a:lnSpc>
              <a:spcBef>
                <a:spcPts val="0"/>
              </a:spcBef>
              <a:spcAft>
                <a:spcPts val="0"/>
              </a:spcAft>
              <a:buNone/>
            </a:pPr>
            <a:r>
              <a:rPr lang="en-US" sz="2235" b="1">
                <a:latin typeface="Cambria" panose="02040503050406030204"/>
                <a:ea typeface="Cambria" panose="02040503050406030204"/>
                <a:cs typeface="Cambria" panose="02040503050406030204"/>
                <a:sym typeface="Cambria" panose="02040503050406030204"/>
              </a:rPr>
              <a:t>Software</a:t>
            </a:r>
            <a:r>
              <a:rPr lang="en-US" sz="2235" b="1"/>
              <a:t>:-</a:t>
            </a:r>
            <a:endParaRPr sz="2235" b="1"/>
          </a:p>
          <a:p>
            <a:pPr marL="495300" lvl="0" indent="-374650" algn="l" rtl="0">
              <a:lnSpc>
                <a:spcPct val="200000"/>
              </a:lnSpc>
              <a:spcBef>
                <a:spcPts val="0"/>
              </a:spcBef>
              <a:spcAft>
                <a:spcPts val="0"/>
              </a:spcAft>
              <a:buSzPct val="100000"/>
              <a:buChar char="•"/>
            </a:pPr>
            <a:r>
              <a:rPr lang="en-US" sz="2000"/>
              <a:t>React Native (Mobile App)</a:t>
            </a:r>
            <a:endParaRPr sz="2000"/>
          </a:p>
          <a:p>
            <a:pPr marL="495300" lvl="0" indent="-374650" algn="l" rtl="0">
              <a:lnSpc>
                <a:spcPct val="200000"/>
              </a:lnSpc>
              <a:spcBef>
                <a:spcPts val="0"/>
              </a:spcBef>
              <a:spcAft>
                <a:spcPts val="0"/>
              </a:spcAft>
              <a:buSzPct val="100000"/>
              <a:buChar char="•"/>
            </a:pPr>
            <a:r>
              <a:rPr lang="en-US" sz="2000"/>
              <a:t>Node.js</a:t>
            </a:r>
            <a:endParaRPr sz="2000"/>
          </a:p>
          <a:p>
            <a:pPr marL="495300" lvl="0" indent="-374650" algn="l" rtl="0">
              <a:lnSpc>
                <a:spcPct val="200000"/>
              </a:lnSpc>
              <a:spcBef>
                <a:spcPts val="0"/>
              </a:spcBef>
              <a:spcAft>
                <a:spcPts val="0"/>
              </a:spcAft>
              <a:buSzPct val="100000"/>
              <a:buChar char="•"/>
            </a:pPr>
            <a:r>
              <a:rPr lang="en-US" sz="2000"/>
              <a:t>FastAPI / Spring Boot (Backend API)</a:t>
            </a:r>
            <a:endParaRPr sz="2000"/>
          </a:p>
          <a:p>
            <a:pPr marL="495300" lvl="0" indent="-374650" algn="l" rtl="0">
              <a:lnSpc>
                <a:spcPct val="200000"/>
              </a:lnSpc>
              <a:spcBef>
                <a:spcPts val="0"/>
              </a:spcBef>
              <a:spcAft>
                <a:spcPts val="0"/>
              </a:spcAft>
              <a:buSzPct val="100000"/>
              <a:buChar char="•"/>
            </a:pPr>
            <a:r>
              <a:rPr lang="en-US" sz="2000"/>
              <a:t>PostgreSQL (Database)</a:t>
            </a:r>
            <a:endParaRPr sz="2000"/>
          </a:p>
          <a:p>
            <a:pPr marL="495300" lvl="0" indent="-374650" algn="l" rtl="0">
              <a:lnSpc>
                <a:spcPct val="200000"/>
              </a:lnSpc>
              <a:spcBef>
                <a:spcPts val="0"/>
              </a:spcBef>
              <a:spcAft>
                <a:spcPts val="0"/>
              </a:spcAft>
              <a:buSzPct val="100000"/>
              <a:buChar char="•"/>
            </a:pPr>
            <a:r>
              <a:rPr lang="en-US" sz="2000"/>
              <a:t>Supabase (Authentication, Storage)</a:t>
            </a:r>
            <a:endParaRPr sz="2000"/>
          </a:p>
          <a:p>
            <a:pPr marL="495300" lvl="0" indent="-374650" algn="l" rtl="0">
              <a:lnSpc>
                <a:spcPct val="200000"/>
              </a:lnSpc>
              <a:spcBef>
                <a:spcPts val="0"/>
              </a:spcBef>
              <a:spcAft>
                <a:spcPts val="0"/>
              </a:spcAft>
              <a:buSzPct val="100000"/>
              <a:buChar char="•"/>
            </a:pPr>
            <a:r>
              <a:rPr lang="en-US" sz="2000"/>
              <a:t>GitHub (Version Control &amp; Collaboration)</a:t>
            </a:r>
            <a:endParaRPr sz="2000"/>
          </a:p>
          <a:p>
            <a:pPr marL="457200" lvl="0" indent="0" algn="l" rtl="0">
              <a:lnSpc>
                <a:spcPct val="200000"/>
              </a:lnSpc>
              <a:spcBef>
                <a:spcPts val="0"/>
              </a:spcBef>
              <a:spcAft>
                <a:spcPts val="0"/>
              </a:spcAft>
              <a:buNone/>
            </a:pPr>
            <a:r>
              <a:rPr lang="en-US" sz="2000" b="1"/>
              <a:t>Hardware:-</a:t>
            </a:r>
            <a:endParaRPr sz="2000">
              <a:latin typeface="Cambria" panose="02040503050406030204"/>
              <a:ea typeface="Cambria" panose="02040503050406030204"/>
              <a:cs typeface="Cambria" panose="02040503050406030204"/>
              <a:sym typeface="Cambria" panose="02040503050406030204"/>
            </a:endParaRPr>
          </a:p>
          <a:p>
            <a:pPr marL="457200" lvl="0" indent="-336550" algn="l" rtl="0">
              <a:lnSpc>
                <a:spcPct val="200000"/>
              </a:lnSpc>
              <a:spcBef>
                <a:spcPts val="0"/>
              </a:spcBef>
              <a:spcAft>
                <a:spcPts val="0"/>
              </a:spcAft>
              <a:buSzPct val="100000"/>
              <a:buChar char="•"/>
            </a:pPr>
            <a:r>
              <a:rPr lang="en-US" sz="2000"/>
              <a:t>Fa</a:t>
            </a:r>
            <a:r>
              <a:rPr lang="en-US" sz="2000">
                <a:latin typeface="Cambria" panose="02040503050406030204"/>
                <a:ea typeface="Cambria" panose="02040503050406030204"/>
                <a:cs typeface="Cambria" panose="02040503050406030204"/>
                <a:sym typeface="Cambria" panose="02040503050406030204"/>
              </a:rPr>
              <a:t>rmers/Retailers: Android or iOS Smartphone (≥2GB RAM, Internet 3G/4G, GPS-enabled)</a:t>
            </a:r>
            <a:endParaRPr sz="2000">
              <a:latin typeface="Cambria" panose="02040503050406030204"/>
              <a:ea typeface="Cambria" panose="02040503050406030204"/>
              <a:cs typeface="Cambria" panose="02040503050406030204"/>
              <a:sym typeface="Cambria" panose="02040503050406030204"/>
            </a:endParaRPr>
          </a:p>
          <a:p>
            <a:pPr marL="495300" lvl="0" indent="-374650" algn="l" rtl="0">
              <a:lnSpc>
                <a:spcPct val="200000"/>
              </a:lnSpc>
              <a:spcBef>
                <a:spcPts val="0"/>
              </a:spcBef>
              <a:spcAft>
                <a:spcPts val="0"/>
              </a:spcAft>
              <a:buSzPct val="100000"/>
              <a:buChar char="•"/>
            </a:pPr>
            <a:r>
              <a:rPr lang="en-US" sz="2000">
                <a:latin typeface="Cambria" panose="02040503050406030204"/>
                <a:ea typeface="Cambria" panose="02040503050406030204"/>
                <a:cs typeface="Cambria" panose="02040503050406030204"/>
                <a:sym typeface="Cambria" panose="02040503050406030204"/>
              </a:rPr>
              <a:t>Developers: PC/Laptop (i5 or higher, 8GB RAM, SSD, 64-bit OS, Internet)</a:t>
            </a:r>
            <a:endParaRPr sz="2000">
              <a:latin typeface="Cambria" panose="02040503050406030204"/>
              <a:ea typeface="Cambria" panose="02040503050406030204"/>
              <a:cs typeface="Cambria" panose="02040503050406030204"/>
              <a:sym typeface="Cambria" panose="02040503050406030204"/>
            </a:endParaRPr>
          </a:p>
          <a:p>
            <a:pPr marL="495300" lvl="0" indent="-374650" algn="l" rtl="0">
              <a:lnSpc>
                <a:spcPct val="200000"/>
              </a:lnSpc>
              <a:spcBef>
                <a:spcPts val="0"/>
              </a:spcBef>
              <a:spcAft>
                <a:spcPts val="0"/>
              </a:spcAft>
              <a:buSzPct val="100000"/>
              <a:buChar char="•"/>
            </a:pPr>
            <a:r>
              <a:rPr lang="en-US" sz="2000">
                <a:latin typeface="Cambria" panose="02040503050406030204"/>
                <a:ea typeface="Cambria" panose="02040503050406030204"/>
                <a:cs typeface="Cambria" panose="02040503050406030204"/>
                <a:sym typeface="Cambria" panose="02040503050406030204"/>
              </a:rPr>
              <a:t>Optional: Basic Server/Cloud hosting for backend services</a:t>
            </a:r>
            <a:endParaRPr sz="2000">
              <a:latin typeface="Cambria" panose="02040503050406030204"/>
              <a:ea typeface="Cambria" panose="02040503050406030204"/>
              <a:cs typeface="Cambria" panose="02040503050406030204"/>
              <a:sym typeface="Cambria" panose="02040503050406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74" name="Shape 174"/>
        <p:cNvGrpSpPr/>
        <p:nvPr/>
      </p:nvGrpSpPr>
      <p:grpSpPr>
        <a:xfrm>
          <a:off x="0" y="0"/>
          <a:ext cx="0" cy="0"/>
          <a:chOff x="0" y="0"/>
          <a:chExt cx="0" cy="0"/>
        </a:xfrm>
      </p:grpSpPr>
      <p:sp>
        <p:nvSpPr>
          <p:cNvPr id="175" name="Google Shape;175;p27"/>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solidFill>
                  <a:srgbClr val="17365D"/>
                </a:solidFill>
              </a:rPr>
              <a:t>Timeline (Gantt Chart)</a:t>
            </a:r>
            <a:endParaRPr lang="en-US">
              <a:solidFill>
                <a:srgbClr val="17365D"/>
              </a:solidFill>
            </a:endParaRPr>
          </a:p>
        </p:txBody>
      </p:sp>
      <p:sp>
        <p:nvSpPr>
          <p:cNvPr id="176" name="Google Shape;176;p27"/>
          <p:cNvSpPr txBox="1"/>
          <p:nvPr>
            <p:ph type="body" idx="1"/>
          </p:nvPr>
        </p:nvSpPr>
        <p:spPr>
          <a:xfrm>
            <a:off x="1523992" y="1143000"/>
            <a:ext cx="9062310" cy="4953000"/>
          </a:xfrm>
          <a:prstGeom prst="rect">
            <a:avLst/>
          </a:prstGeom>
          <a:noFill/>
          <a:ln>
            <a:noFill/>
          </a:ln>
        </p:spPr>
        <p:txBody>
          <a:bodyPr spcFirstLastPara="1" wrap="square" lIns="91425" tIns="45700" rIns="91425" bIns="45700" anchor="t" anchorCtr="0">
            <a:normAutofit/>
          </a:bodyPr>
          <a:lstStyle/>
          <a:p>
            <a:pPr marL="342900" lvl="0" indent="-190500" algn="l" rtl="0">
              <a:lnSpc>
                <a:spcPct val="150000"/>
              </a:lnSpc>
              <a:spcBef>
                <a:spcPts val="0"/>
              </a:spcBef>
              <a:spcAft>
                <a:spcPts val="0"/>
              </a:spcAft>
              <a:buClr>
                <a:schemeClr val="dk1"/>
              </a:buClr>
              <a:buSzPts val="2000"/>
              <a:buNone/>
            </a:pPr>
            <a:endParaRPr sz="2000">
              <a:latin typeface="Cambria" panose="02040503050406030204"/>
              <a:ea typeface="Cambria" panose="02040503050406030204"/>
              <a:cs typeface="Cambria" panose="02040503050406030204"/>
              <a:sym typeface="Cambria" panose="02040503050406030204"/>
            </a:endParaRPr>
          </a:p>
        </p:txBody>
      </p:sp>
      <p:pic>
        <p:nvPicPr>
          <p:cNvPr id="177" name="Google Shape;177;p27"/>
          <p:cNvPicPr preferRelativeResize="0"/>
          <p:nvPr/>
        </p:nvPicPr>
        <p:blipFill rotWithShape="1">
          <a:blip r:embed="rId1"/>
          <a:srcRect/>
          <a:stretch>
            <a:fillRect/>
          </a:stretch>
        </p:blipFill>
        <p:spPr>
          <a:xfrm>
            <a:off x="1523992" y="1131570"/>
            <a:ext cx="8699508" cy="4953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81" name="Shape 181"/>
        <p:cNvGrpSpPr/>
        <p:nvPr/>
      </p:nvGrpSpPr>
      <p:grpSpPr>
        <a:xfrm>
          <a:off x="0" y="0"/>
          <a:ext cx="0" cy="0"/>
          <a:chOff x="0" y="0"/>
          <a:chExt cx="0" cy="0"/>
        </a:xfrm>
      </p:grpSpPr>
      <p:sp>
        <p:nvSpPr>
          <p:cNvPr id="182" name="Google Shape;182;p28"/>
          <p:cNvSpPr txBox="1"/>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17365D"/>
              </a:buClr>
              <a:buSzPts val="2800"/>
              <a:buFont typeface="Verdana" panose="020B0604030504040204"/>
              <a:buNone/>
            </a:pPr>
            <a:r>
              <a:rPr lang="en-US">
                <a:solidFill>
                  <a:srgbClr val="17365D"/>
                </a:solidFill>
              </a:rPr>
              <a:t>References</a:t>
            </a:r>
            <a:endParaRPr lang="en-US">
              <a:solidFill>
                <a:srgbClr val="17365D"/>
              </a:solidFill>
            </a:endParaRPr>
          </a:p>
        </p:txBody>
      </p:sp>
      <p:sp>
        <p:nvSpPr>
          <p:cNvPr id="183" name="Google Shape;183;p28"/>
          <p:cNvSpPr txBox="1"/>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600" b="1">
                <a:latin typeface="Arial" panose="020B0604020202020204"/>
                <a:ea typeface="Arial" panose="020B0604020202020204"/>
                <a:cs typeface="Arial" panose="020B0604020202020204"/>
                <a:sym typeface="Arial" panose="020B0604020202020204"/>
              </a:rPr>
              <a:t>Base Paper:</a:t>
            </a:r>
            <a:br>
              <a:rPr lang="en-US" sz="1400" b="1">
                <a:latin typeface="Arial" panose="020B0604020202020204"/>
                <a:ea typeface="Arial" panose="020B0604020202020204"/>
                <a:cs typeface="Arial" panose="020B0604020202020204"/>
                <a:sym typeface="Arial" panose="020B0604020202020204"/>
              </a:rPr>
            </a:br>
            <a:r>
              <a:rPr lang="en-US" sz="1400">
                <a:latin typeface="Arial" panose="020B0604020202020204"/>
                <a:ea typeface="Arial" panose="020B0604020202020204"/>
                <a:cs typeface="Arial" panose="020B0604020202020204"/>
                <a:sym typeface="Arial" panose="020B0604020202020204"/>
              </a:rPr>
              <a:t> [1] E. S. Kishan, H. B. Tarun, and M. S. Prasad, “Mobile App for Direct Market Access for Farmers,” </a:t>
            </a:r>
            <a:r>
              <a:rPr lang="en-US" sz="1400" i="1">
                <a:latin typeface="Arial" panose="020B0604020202020204"/>
                <a:ea typeface="Arial" panose="020B0604020202020204"/>
                <a:cs typeface="Arial" panose="020B0604020202020204"/>
                <a:sym typeface="Arial" panose="020B0604020202020204"/>
              </a:rPr>
              <a:t>International Journal of Innovative Research in Technology (IJIRT)</a:t>
            </a:r>
            <a:r>
              <a:rPr lang="en-US" sz="1400">
                <a:latin typeface="Arial" panose="020B0604020202020204"/>
                <a:ea typeface="Arial" panose="020B0604020202020204"/>
                <a:cs typeface="Arial" panose="020B0604020202020204"/>
                <a:sym typeface="Arial" panose="020B0604020202020204"/>
              </a:rPr>
              <a:t>, vol. 11, no. 11, pp. 45–50, Apr. 2025.</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600" b="1">
                <a:latin typeface="Arial" panose="020B0604020202020204"/>
                <a:ea typeface="Arial" panose="020B0604020202020204"/>
                <a:cs typeface="Arial" panose="020B0604020202020204"/>
                <a:sym typeface="Arial" panose="020B0604020202020204"/>
              </a:rPr>
              <a:t>Other References:</a:t>
            </a:r>
            <a:br>
              <a:rPr lang="en-US" sz="1400" b="1">
                <a:latin typeface="Arial" panose="020B0604020202020204"/>
                <a:ea typeface="Arial" panose="020B0604020202020204"/>
                <a:cs typeface="Arial" panose="020B0604020202020204"/>
                <a:sym typeface="Arial" panose="020B0604020202020204"/>
              </a:rPr>
            </a:br>
            <a:r>
              <a:rPr lang="en-US" sz="1400">
                <a:latin typeface="Arial" panose="020B0604020202020204"/>
                <a:ea typeface="Arial" panose="020B0604020202020204"/>
                <a:cs typeface="Arial" panose="020B0604020202020204"/>
                <a:sym typeface="Arial" panose="020B0604020202020204"/>
              </a:rPr>
              <a:t> [2] A. D. Bhavani, M. S. Varshini, P. P. Reddy, and V. C. Varshith, “Mobile Application for Direct Market Access for Farmers,” </a:t>
            </a:r>
            <a:r>
              <a:rPr lang="en-US" sz="1400" i="1">
                <a:latin typeface="Arial" panose="020B0604020202020204"/>
                <a:ea typeface="Arial" panose="020B0604020202020204"/>
                <a:cs typeface="Arial" panose="020B0604020202020204"/>
                <a:sym typeface="Arial" panose="020B0604020202020204"/>
              </a:rPr>
              <a:t>International Journal of Engineering and Management Sciences (IJEMS)</a:t>
            </a:r>
            <a:r>
              <a:rPr lang="en-US" sz="1400">
                <a:latin typeface="Arial" panose="020B0604020202020204"/>
                <a:ea typeface="Arial" panose="020B0604020202020204"/>
                <a:cs typeface="Arial" panose="020B0604020202020204"/>
                <a:sym typeface="Arial" panose="020B0604020202020204"/>
              </a:rPr>
              <a:t>, vol. 6, no. 3, pp. 112–118, Mar. 2025.</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400">
                <a:latin typeface="Arial" panose="020B0604020202020204"/>
                <a:ea typeface="Arial" panose="020B0604020202020204"/>
                <a:cs typeface="Arial" panose="020B0604020202020204"/>
                <a:sym typeface="Arial" panose="020B0604020202020204"/>
              </a:rPr>
              <a:t>[3] T. S. Tati, O. K. Landage, and R. K. Sangle, “Mobile Application for Farmer to Get Direct Access to Market, Transport, Fertilizer Shops,” </a:t>
            </a:r>
            <a:r>
              <a:rPr lang="en-US" sz="1400" i="1">
                <a:latin typeface="Arial" panose="020B0604020202020204"/>
                <a:ea typeface="Arial" panose="020B0604020202020204"/>
                <a:cs typeface="Arial" panose="020B0604020202020204"/>
                <a:sym typeface="Arial" panose="020B0604020202020204"/>
              </a:rPr>
              <a:t>International Journal for Research in Applied Science and Engineering Technology (IJRASET)</a:t>
            </a:r>
            <a:r>
              <a:rPr lang="en-US" sz="1400">
                <a:latin typeface="Arial" panose="020B0604020202020204"/>
                <a:ea typeface="Arial" panose="020B0604020202020204"/>
                <a:cs typeface="Arial" panose="020B0604020202020204"/>
                <a:sym typeface="Arial" panose="020B0604020202020204"/>
              </a:rPr>
              <a:t>, vol. 13, no. 4, pp. 2330–2336, Apr. 2025.</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400">
                <a:latin typeface="Arial" panose="020B0604020202020204"/>
                <a:ea typeface="Arial" panose="020B0604020202020204"/>
                <a:cs typeface="Arial" panose="020B0604020202020204"/>
                <a:sym typeface="Arial" panose="020B0604020202020204"/>
              </a:rPr>
              <a:t>[4] K. Sughasini, R. S. Gowda, and P. M. Reddy, “Mobile App for Direct Market Access for Farmers,” </a:t>
            </a:r>
            <a:r>
              <a:rPr lang="en-US" sz="1400" i="1">
                <a:latin typeface="Arial" panose="020B0604020202020204"/>
                <a:ea typeface="Arial" panose="020B0604020202020204"/>
                <a:cs typeface="Arial" panose="020B0604020202020204"/>
                <a:sym typeface="Arial" panose="020B0604020202020204"/>
              </a:rPr>
              <a:t>Journal of Emerging Technologies and Innovative Research (JETIR)</a:t>
            </a:r>
            <a:r>
              <a:rPr lang="en-US" sz="1400">
                <a:latin typeface="Arial" panose="020B0604020202020204"/>
                <a:ea typeface="Arial" panose="020B0604020202020204"/>
                <a:cs typeface="Arial" panose="020B0604020202020204"/>
                <a:sym typeface="Arial" panose="020B0604020202020204"/>
              </a:rPr>
              <a:t>, vol. 11, no. 12, pp. 89–95, Dec. 2024.</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400">
                <a:latin typeface="Arial" panose="020B0604020202020204"/>
                <a:ea typeface="Arial" panose="020B0604020202020204"/>
                <a:cs typeface="Arial" panose="020B0604020202020204"/>
                <a:sym typeface="Arial" panose="020B0604020202020204"/>
              </a:rPr>
              <a:t>[5] J. P. Gomez, A. M. Lozano, and C. A. Lopez, “AgroTIC: A Mobile Application for Crop Monitoring and Direct Market Access,” </a:t>
            </a:r>
            <a:r>
              <a:rPr lang="en-US" sz="1400" i="1">
                <a:latin typeface="Arial" panose="020B0604020202020204"/>
                <a:ea typeface="Arial" panose="020B0604020202020204"/>
                <a:cs typeface="Arial" panose="020B0604020202020204"/>
                <a:sym typeface="Arial" panose="020B0604020202020204"/>
              </a:rPr>
              <a:t>arXiv preprint</a:t>
            </a:r>
            <a:r>
              <a:rPr lang="en-US" sz="1400">
                <a:latin typeface="Arial" panose="020B0604020202020204"/>
                <a:ea typeface="Arial" panose="020B0604020202020204"/>
                <a:cs typeface="Arial" panose="020B0604020202020204"/>
                <a:sym typeface="Arial" panose="020B0604020202020204"/>
              </a:rPr>
              <a:t>, arXiv:2305.12418, 2023.</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SzPts val="1100"/>
              <a:buNone/>
            </a:pPr>
            <a:r>
              <a:rPr lang="en-US" sz="1400">
                <a:latin typeface="Arial" panose="020B0604020202020204"/>
                <a:ea typeface="Arial" panose="020B0604020202020204"/>
                <a:cs typeface="Arial" panose="020B0604020202020204"/>
                <a:sym typeface="Arial" panose="020B0604020202020204"/>
              </a:rPr>
              <a:t>[6] R. C. Mwakalinga, A. C. Kaijage, and P. E. Mushi, “eKichabi v2: A Dual-Platform Mobile Agricultural Directory for Farmers in Tanzania,” </a:t>
            </a:r>
            <a:r>
              <a:rPr lang="en-US" sz="1400" i="1">
                <a:latin typeface="Arial" panose="020B0604020202020204"/>
                <a:ea typeface="Arial" panose="020B0604020202020204"/>
                <a:cs typeface="Arial" panose="020B0604020202020204"/>
                <a:sym typeface="Arial" panose="020B0604020202020204"/>
              </a:rPr>
              <a:t>arXiv preprint</a:t>
            </a:r>
            <a:r>
              <a:rPr lang="en-US" sz="1400">
                <a:latin typeface="Arial" panose="020B0604020202020204"/>
                <a:ea typeface="Arial" panose="020B0604020202020204"/>
                <a:cs typeface="Arial" panose="020B0604020202020204"/>
                <a:sym typeface="Arial" panose="020B0604020202020204"/>
              </a:rPr>
              <a:t>, arXiv:2403.09980, 2024</a:t>
            </a:r>
            <a:r>
              <a:rPr lang="en-US" sz="1400">
                <a:latin typeface="Arial" panose="020B0604020202020204"/>
                <a:ea typeface="Arial" panose="020B0604020202020204"/>
                <a:cs typeface="Arial" panose="020B0604020202020204"/>
                <a:sym typeface="Arial" panose="020B0604020202020204"/>
              </a:rPr>
              <a:t>.</a:t>
            </a:r>
            <a:endParaRPr sz="1400">
              <a:latin typeface="Arial" panose="020B0604020202020204"/>
              <a:ea typeface="Arial" panose="020B0604020202020204"/>
              <a:cs typeface="Arial" panose="020B0604020202020204"/>
              <a:sym typeface="Arial" panose="020B0604020202020204"/>
            </a:endParaRPr>
          </a:p>
          <a:p>
            <a:pPr marL="152400" lvl="0" indent="0" algn="l" rtl="0">
              <a:lnSpc>
                <a:spcPct val="150000"/>
              </a:lnSpc>
              <a:spcBef>
                <a:spcPts val="1200"/>
              </a:spcBef>
              <a:spcAft>
                <a:spcPts val="0"/>
              </a:spcAft>
              <a:buSzPts val="2400"/>
              <a:buNone/>
            </a:pPr>
            <a:endParaRPr sz="1900">
              <a:latin typeface="Calibri" panose="020F0502020204030204"/>
              <a:ea typeface="Calibri" panose="020F0502020204030204"/>
              <a:cs typeface="Calibri" panose="020F0502020204030204"/>
              <a:sym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87" name="Shape 187"/>
        <p:cNvGrpSpPr/>
        <p:nvPr/>
      </p:nvGrpSpPr>
      <p:grpSpPr>
        <a:xfrm>
          <a:off x="0" y="0"/>
          <a:ext cx="0" cy="0"/>
          <a:chOff x="0" y="0"/>
          <a:chExt cx="0" cy="0"/>
        </a:xfrm>
      </p:grpSpPr>
      <p:sp>
        <p:nvSpPr>
          <p:cNvPr id="188" name="Google Shape;188;p29"/>
          <p:cNvSpPr txBox="1"/>
          <p:nvPr>
            <p:ph type="title"/>
          </p:nvPr>
        </p:nvSpPr>
        <p:spPr>
          <a:xfrm>
            <a:off x="812800" y="274638"/>
            <a:ext cx="10668000" cy="487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panose="020B0604030504040204"/>
              <a:buNone/>
            </a:pPr>
            <a:r>
              <a:rPr lang="en-US"/>
              <a:t>References (contd…)</a:t>
            </a:r>
            <a:endParaRPr lang="en-US"/>
          </a:p>
        </p:txBody>
      </p:sp>
      <p:sp>
        <p:nvSpPr>
          <p:cNvPr id="189" name="Google Shape;189;p29"/>
          <p:cNvSpPr txBox="1"/>
          <p:nvPr>
            <p:ph type="body" idx="1"/>
          </p:nvPr>
        </p:nvSpPr>
        <p:spPr>
          <a:xfrm>
            <a:off x="812800" y="1143001"/>
            <a:ext cx="10668000" cy="4953000"/>
          </a:xfrm>
          <a:prstGeom prst="rect">
            <a:avLst/>
          </a:prstGeom>
        </p:spPr>
        <p:txBody>
          <a:bodyPr spcFirstLastPara="1" wrap="square" lIns="91425" tIns="45700" rIns="91425" bIns="45700" anchor="t" anchorCtr="0">
            <a:normAutofit/>
          </a:bodyPr>
          <a:lstStyle/>
          <a:p>
            <a:pPr marL="0" lvl="0" indent="0" algn="l" rtl="0">
              <a:lnSpc>
                <a:spcPct val="115000"/>
              </a:lnSpc>
              <a:spcBef>
                <a:spcPts val="1200"/>
              </a:spcBef>
              <a:spcAft>
                <a:spcPts val="0"/>
              </a:spcAft>
              <a:buClr>
                <a:schemeClr val="dk1"/>
              </a:buClr>
              <a:buSzPts val="1100"/>
              <a:buFont typeface="Arial" panose="020B0604020202020204"/>
              <a:buNone/>
            </a:pPr>
            <a:r>
              <a:rPr lang="en-US" sz="1400">
                <a:latin typeface="Arial" panose="020B0604020202020204"/>
                <a:ea typeface="Arial" panose="020B0604020202020204"/>
                <a:cs typeface="Arial" panose="020B0604020202020204"/>
                <a:sym typeface="Arial" panose="020B0604020202020204"/>
              </a:rPr>
              <a:t>[7] R. Vyas, R. Rameja, V. Arora, and V. Sahu, “A Mobile Platform for Direct Market Access to Farmers Using Flutter and Firebase,” Geetanjali Institute of Technical Studies, India, 2023/2024.</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400">
                <a:latin typeface="Arial" panose="020B0604020202020204"/>
                <a:ea typeface="Arial" panose="020B0604020202020204"/>
                <a:cs typeface="Arial" panose="020B0604020202020204"/>
                <a:sym typeface="Arial" panose="020B0604020202020204"/>
              </a:rPr>
              <a:t>[8] K. T. G. Kumar, G. K. Abhishek, and P. G. K. Karthikeya, “Android App for Farmers to Sell Crops in Regional Language,” </a:t>
            </a:r>
            <a:r>
              <a:rPr lang="en-US" sz="1400" i="1">
                <a:latin typeface="Arial" panose="020B0604020202020204"/>
                <a:ea typeface="Arial" panose="020B0604020202020204"/>
                <a:cs typeface="Arial" panose="020B0604020202020204"/>
                <a:sym typeface="Arial" panose="020B0604020202020204"/>
              </a:rPr>
              <a:t>International Research Journal of Engineering and Technology (IRJET)</a:t>
            </a:r>
            <a:r>
              <a:rPr lang="en-US" sz="1400">
                <a:latin typeface="Arial" panose="020B0604020202020204"/>
                <a:ea typeface="Arial" panose="020B0604020202020204"/>
                <a:cs typeface="Arial" panose="020B0604020202020204"/>
                <a:sym typeface="Arial" panose="020B0604020202020204"/>
              </a:rPr>
              <a:t>, 2020.</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400">
                <a:latin typeface="Arial" panose="020B0604020202020204"/>
                <a:ea typeface="Arial" panose="020B0604020202020204"/>
                <a:cs typeface="Arial" panose="020B0604020202020204"/>
                <a:sym typeface="Arial" panose="020B0604020202020204"/>
              </a:rPr>
              <a:t>[9] S. M., R. G. S., S. M. Holla, P. S., S. Prabhanjan, and S. C. Sumana, “Android Application on Agricultural Marketing,” </a:t>
            </a:r>
            <a:r>
              <a:rPr lang="en-US" sz="1400" i="1">
                <a:latin typeface="Arial" panose="020B0604020202020204"/>
                <a:ea typeface="Arial" panose="020B0604020202020204"/>
                <a:cs typeface="Arial" panose="020B0604020202020204"/>
                <a:sym typeface="Arial" panose="020B0604020202020204"/>
              </a:rPr>
              <a:t>International Research Journal of Engineering and Technology (IRJET)</a:t>
            </a:r>
            <a:r>
              <a:rPr lang="en-US" sz="1400">
                <a:latin typeface="Arial" panose="020B0604020202020204"/>
                <a:ea typeface="Arial" panose="020B0604020202020204"/>
                <a:cs typeface="Arial" panose="020B0604020202020204"/>
                <a:sym typeface="Arial" panose="020B0604020202020204"/>
              </a:rPr>
              <a:t>, 2020.</a:t>
            </a:r>
            <a:endParaRPr sz="1400">
              <a:latin typeface="Arial" panose="020B0604020202020204"/>
              <a:ea typeface="Arial" panose="020B0604020202020204"/>
              <a:cs typeface="Arial" panose="020B0604020202020204"/>
              <a:sym typeface="Arial" panose="020B0604020202020204"/>
            </a:endParaRPr>
          </a:p>
          <a:p>
            <a:pPr marL="0" lvl="0" indent="0" algn="l" rtl="0">
              <a:lnSpc>
                <a:spcPct val="115000"/>
              </a:lnSpc>
              <a:spcBef>
                <a:spcPts val="1200"/>
              </a:spcBef>
              <a:spcAft>
                <a:spcPts val="0"/>
              </a:spcAft>
              <a:buClr>
                <a:schemeClr val="dk1"/>
              </a:buClr>
              <a:buSzPts val="1100"/>
              <a:buFont typeface="Arial" panose="020B0604020202020204"/>
              <a:buNone/>
            </a:pPr>
            <a:r>
              <a:rPr lang="en-US" sz="1400">
                <a:latin typeface="Arial" panose="020B0604020202020204"/>
                <a:ea typeface="Arial" panose="020B0604020202020204"/>
                <a:cs typeface="Arial" panose="020B0604020202020204"/>
                <a:sym typeface="Arial" panose="020B0604020202020204"/>
              </a:rPr>
              <a:t>[10] D. J. Samuel, I. Skarga-Bandurova, D. Sikolia, and M. Awais, “AgroLLM: Connecting Farmers via LLMs,” </a:t>
            </a:r>
            <a:r>
              <a:rPr lang="en-US" sz="1400" i="1">
                <a:latin typeface="Arial" panose="020B0604020202020204"/>
                <a:ea typeface="Arial" panose="020B0604020202020204"/>
                <a:cs typeface="Arial" panose="020B0604020202020204"/>
                <a:sym typeface="Arial" panose="020B0604020202020204"/>
              </a:rPr>
              <a:t>ResearchGate</a:t>
            </a:r>
            <a:r>
              <a:rPr lang="en-US" sz="1400">
                <a:latin typeface="Arial" panose="020B0604020202020204"/>
                <a:ea typeface="Arial" panose="020B0604020202020204"/>
                <a:cs typeface="Arial" panose="020B0604020202020204"/>
                <a:sym typeface="Arial" panose="020B0604020202020204"/>
              </a:rPr>
              <a:t>, 2024/2025. [Online]. Available:</a:t>
            </a:r>
            <a:r>
              <a:rPr lang="en-US" sz="1400">
                <a:uFill>
                  <a:noFill/>
                </a:uFill>
                <a:latin typeface="Arial" panose="020B0604020202020204"/>
                <a:ea typeface="Arial" panose="020B0604020202020204"/>
                <a:cs typeface="Arial" panose="020B0604020202020204"/>
                <a:sym typeface="Arial" panose="020B0604020202020204"/>
                <a:hlinkClick r:id="rId1"/>
              </a:rPr>
              <a:t> </a:t>
            </a:r>
            <a:r>
              <a:rPr lang="en-US" sz="1400" u="sng">
                <a:solidFill>
                  <a:schemeClr val="hlink"/>
                </a:solidFill>
                <a:latin typeface="Arial" panose="020B0604020202020204"/>
                <a:ea typeface="Arial" panose="020B0604020202020204"/>
                <a:cs typeface="Arial" panose="020B0604020202020204"/>
                <a:sym typeface="Arial" panose="020B0604020202020204"/>
                <a:hlinkClick r:id="rId1"/>
              </a:rPr>
              <a:t>https://www.researchgate.net/publication/386423586</a:t>
            </a:r>
            <a:endParaRPr sz="1400" u="sng">
              <a:solidFill>
                <a:schemeClr val="hlink"/>
              </a:solidFill>
              <a:latin typeface="Arial" panose="020B0604020202020204"/>
              <a:ea typeface="Arial" panose="020B0604020202020204"/>
              <a:cs typeface="Arial" panose="020B0604020202020204"/>
              <a:sym typeface="Arial" panose="020B0604020202020204"/>
            </a:endParaRPr>
          </a:p>
          <a:p>
            <a:pPr marL="0" lvl="0" indent="0" algn="l" rtl="0">
              <a:spcBef>
                <a:spcPts val="1200"/>
              </a:spcBef>
              <a:spcAft>
                <a:spcPts val="0"/>
              </a:spcAft>
              <a:buNone/>
            </a:pPr>
            <a:endParaRPr sz="27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93" name="Shape 193"/>
        <p:cNvGrpSpPr/>
        <p:nvPr/>
      </p:nvGrpSpPr>
      <p:grpSpPr>
        <a:xfrm>
          <a:off x="0" y="0"/>
          <a:ext cx="0" cy="0"/>
          <a:chOff x="0" y="0"/>
          <a:chExt cx="0" cy="0"/>
        </a:xfrm>
      </p:grpSpPr>
      <p:pic>
        <p:nvPicPr>
          <p:cNvPr id="194" name="Google Shape;194;p30"/>
          <p:cNvPicPr preferRelativeResize="0"/>
          <p:nvPr/>
        </p:nvPicPr>
        <p:blipFill rotWithShape="1">
          <a:blip r:embed="rId1"/>
          <a:srcRect/>
          <a:stretch>
            <a:fillRect/>
          </a:stretch>
        </p:blipFill>
        <p:spPr>
          <a:xfrm>
            <a:off x="4082811" y="1441315"/>
            <a:ext cx="3893305" cy="3935471"/>
          </a:xfrm>
          <a:prstGeom prst="rect">
            <a:avLst/>
          </a:prstGeom>
          <a:noFill/>
          <a:ln>
            <a:noFill/>
          </a:ln>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10545</Words>
  <Application>WPS Presentation</Application>
  <PresentationFormat/>
  <Paragraphs>200</Paragraphs>
  <Slides>17</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17</vt:i4>
      </vt:variant>
    </vt:vector>
  </HeadingPairs>
  <TitlesOfParts>
    <vt:vector size="30" baseType="lpstr">
      <vt:lpstr>Arial</vt:lpstr>
      <vt:lpstr>SimSun</vt:lpstr>
      <vt:lpstr>Wingdings</vt:lpstr>
      <vt:lpstr>Arial</vt:lpstr>
      <vt:lpstr>Verdana</vt:lpstr>
      <vt:lpstr>Bookman Old Style</vt:lpstr>
      <vt:lpstr>Segoe Print</vt:lpstr>
      <vt:lpstr>Cambria</vt:lpstr>
      <vt:lpstr>Noto Sans Symbols</vt:lpstr>
      <vt:lpstr>Calibri</vt:lpstr>
      <vt:lpstr>Microsoft YaHei</vt:lpstr>
      <vt:lpstr>Arial Unicode MS</vt:lpstr>
      <vt:lpstr>Bioinformatics</vt:lpstr>
      <vt:lpstr>PROJECT TITLE: Mobile App For Direct Access For Farmers</vt:lpstr>
      <vt:lpstr>Content</vt:lpstr>
      <vt:lpstr>Problem Statement Number: PSCS_281 </vt:lpstr>
      <vt:lpstr>Abstract</vt:lpstr>
      <vt:lpstr>Literature Survey</vt:lpstr>
      <vt:lpstr>Literature Survey(contd…)</vt:lpstr>
      <vt:lpstr>Objectives</vt:lpstr>
      <vt:lpstr>Existing Models and Drawbacks</vt:lpstr>
      <vt:lpstr>Proposed Method &amp; Feasibility Study</vt:lpstr>
      <vt:lpstr>Proposed Method &amp; Feasibility Study</vt:lpstr>
      <vt:lpstr>Architecture Diagram</vt:lpstr>
      <vt:lpstr>Modules</vt:lpstr>
      <vt:lpstr>Software &amp; Hardware Requirements</vt:lpstr>
      <vt:lpstr>Timeline (Gantt Chart)</vt:lpstr>
      <vt:lpstr>References</vt:lpstr>
      <vt:lpstr>References (contd…)</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TITLE: Mobile App For Direct Access For Farmers</dc:title>
  <dc:creator/>
  <cp:lastModifiedBy>admin</cp:lastModifiedBy>
  <cp:revision>1</cp:revision>
  <dcterms:created xsi:type="dcterms:W3CDTF">2025-09-10T06:16:14Z</dcterms:created>
  <dcterms:modified xsi:type="dcterms:W3CDTF">2025-09-10T06:16:14Z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60C9DAD8052446C7B4AFDD2DDEE27E7C_12</vt:lpwstr>
  </property>
  <property fmtid="{D5CDD505-2E9C-101B-9397-08002B2CF9AE}" pid="3" name="KSOProductBuildVer">
    <vt:lpwstr>1033-12.2.0.21931</vt:lpwstr>
  </property>
</Properties>
</file>