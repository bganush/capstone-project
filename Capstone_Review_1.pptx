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9" r:id="rId6"/>
    <p:sldId id="273" r:id="rId7"/>
    <p:sldId id="274" r:id="rId8"/>
    <p:sldId id="275" r:id="rId9"/>
    <p:sldId id="276" r:id="rId10"/>
    <p:sldId id="268" r:id="rId11"/>
    <p:sldId id="279" r:id="rId12"/>
    <p:sldId id="278" r:id="rId13"/>
    <p:sldId id="277" r:id="rId14"/>
    <p:sldId id="265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TITLE:</a:t>
            </a:r>
            <a:r>
              <a:rPr lang="en-US" sz="2400" dirty="0"/>
              <a:t> Mobile App For Direct Access For Farmers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97506" y="2045352"/>
            <a:ext cx="4984094" cy="248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algn="l"/>
            <a:r>
              <a:rPr lang="en-US" sz="1800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Batch Number: COM_20</a:t>
            </a:r>
            <a:endParaRPr lang="en-US" sz="18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US" sz="18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n-US" sz="1800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Roll no                           Student Name</a:t>
            </a:r>
            <a:endParaRPr lang="en-US" sz="18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US" sz="18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20221COM0095             ANUSH BG</a:t>
            </a:r>
            <a:endParaRPr lang="en-US" sz="18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20221COM0088             THANUSH G GOWDA</a:t>
            </a:r>
            <a:endParaRPr lang="en-US" sz="18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20221COM0204             ADARSHA DA</a:t>
            </a:r>
            <a:endParaRPr lang="en-US" sz="18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IN" sz="18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GB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Sudha P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Associate Professor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826000"/>
            <a:ext cx="12249915" cy="126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dirty="0">
                <a:solidFill>
                  <a:srgbClr val="FF0000"/>
                </a:solidFill>
              </a:rPr>
              <a:t>B.Tech. Computer Engineering (Artificial Intelligence And Machine Learning)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 Pallavi R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Benitha Christinal J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762139"/>
            <a:ext cx="10668000" cy="462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Git 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PSCS_281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Ministry of Agriculture And Farmers Welfare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Category :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Software  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 :</a:t>
            </a:r>
            <a:r>
              <a:rPr lang="en-US" sz="2000" dirty="0"/>
              <a:t>Create a mobile application that connects farmers directly with consumers and retailers. The app should include features for listing produce, negotiating prices, and managing transactions, thereby reducing dependence on intermediaries.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Objectives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23698" y="1129389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Eliminate intermediaries &amp; exploitation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farmers' income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
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real-time market access &amp; price transparency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Digitally empower rural communities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SDG 9: Industry, Innovation &amp; Infrastructure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Background &amp; Related Work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62527"/>
            <a:ext cx="10668000" cy="4428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95300" indent="-34290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Calibri" panose="020F0502020204030204"/>
              </a:defRPr>
            </a:pPr>
            <a:r>
              <a:rPr lang="en-US" sz="2000" dirty="0"/>
              <a:t>Existing agri-market platforms rely on static listings and keyword-based filters, lacking contextual understanding or multilingual interaction.</a:t>
            </a:r>
            <a:endParaRPr lang="en-US" sz="2000" dirty="0"/>
          </a:p>
          <a:p>
            <a:pPr marL="495300" indent="-34290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Calibri" panose="020F0502020204030204"/>
              </a:defRPr>
            </a:pPr>
            <a:r>
              <a:rPr lang="en-US" sz="1800" dirty="0"/>
              <a:t>AI chatbots (ChatGPT, Google Bard) demonstrate potential for intuitive, natural conversations, useful for tech adoption in rural areas.</a:t>
            </a:r>
            <a:endParaRPr lang="en-US" sz="1800" dirty="0"/>
          </a:p>
          <a:p>
            <a:pPr marL="495300" indent="-34290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Calibri" panose="020F0502020204030204"/>
              </a:defRPr>
            </a:pPr>
            <a:r>
              <a:rPr lang="en-US" sz="1800" dirty="0"/>
              <a:t>Personalized assistance and support for regional languages enhance usability for farmers with limited digital literacy.</a:t>
            </a:r>
            <a:endParaRPr lang="en-US" sz="1800" dirty="0"/>
          </a:p>
          <a:p>
            <a:pPr marL="495300" indent="-34290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Calibri" panose="020F0502020204030204"/>
              </a:defRPr>
            </a:pPr>
            <a:r>
              <a:rPr lang="en-US" sz="1800" dirty="0"/>
              <a:t>Current government apps/platforms (e.g., eNAM, AgriMarket) do not offer LLM-driven interfaces, making navigation and price discovery less efficient.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  <a:defRPr sz="1400">
                <a:latin typeface="Calibri" panose="020F0502020204030204"/>
              </a:defRPr>
            </a:pPr>
            <a:r>
              <a:rPr sz="2000" b="1" dirty="0"/>
              <a:t>Challenges:</a:t>
            </a:r>
            <a:r>
              <a:rPr sz="2000" dirty="0"/>
              <a:t>
</a:t>
            </a:r>
            <a:r>
              <a:rPr lang="en-IN" sz="1800" dirty="0"/>
              <a:t>Digital Literacy Gap
Internet Connectivity Issues</a:t>
            </a:r>
            <a:endParaRPr lang="en-IN" sz="1800" dirty="0"/>
          </a:p>
          <a:p>
            <a:pPr marL="495300" indent="-342900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  <a:defRPr sz="1400">
                <a:latin typeface="Calibri" panose="020F0502020204030204"/>
              </a:defRPr>
            </a:pPr>
            <a:r>
              <a:rPr lang="en-IN" sz="1800" dirty="0"/>
              <a:t>Trust and Adoption Resistance</a:t>
            </a:r>
            <a:endParaRPr lang="en-IN" sz="1800" dirty="0"/>
          </a:p>
          <a:p>
            <a:pPr marL="495300" indent="-342900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  <a:defRPr sz="1400">
                <a:latin typeface="Calibri" panose="020F0502020204030204"/>
              </a:defRPr>
            </a:pPr>
            <a:r>
              <a:rPr lang="en-IN" sz="1800" dirty="0"/>
              <a:t>Competition with Middlemen</a:t>
            </a:r>
            <a:endParaRPr lang="en-US" sz="1800" dirty="0"/>
          </a:p>
          <a:p>
            <a:pPr marL="495300" indent="-342900">
              <a:lnSpc>
                <a:spcPct val="15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r>
              <a:rPr lang="en-IN" sz="2000" b="1" dirty="0"/>
              <a:t>Solution: </a:t>
            </a:r>
            <a:r>
              <a:rPr sz="2000" dirty="0"/>
              <a:t>
</a:t>
            </a:r>
            <a:r>
              <a:rPr lang="en-IN" sz="1800" dirty="0"/>
              <a:t>User-Friendly Interface (UI/UX)</a:t>
            </a:r>
            <a:endParaRPr lang="en-IN" sz="1800" dirty="0"/>
          </a:p>
          <a:p>
            <a:pPr marL="495300" indent="-342900">
              <a:lnSpc>
                <a:spcPct val="15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r>
              <a:rPr lang="en-IN" sz="1800" dirty="0"/>
              <a:t>Secure Digital Payments</a:t>
            </a:r>
            <a:endParaRPr lang="en-IN" sz="1800" dirty="0"/>
          </a:p>
          <a:p>
            <a:pPr marL="495300" indent="-342900">
              <a:lnSpc>
                <a:spcPct val="15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r>
              <a:rPr lang="en-IN" sz="1800" dirty="0"/>
              <a:t>Real-Time Market Prices</a:t>
            </a:r>
            <a:endParaRPr lang="en-IN" sz="1800" dirty="0"/>
          </a:p>
          <a:p>
            <a:pPr marL="495300" indent="-342900">
              <a:lnSpc>
                <a:spcPct val="15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r>
              <a:rPr lang="en-IN" sz="1800" dirty="0"/>
              <a:t>Awareness &amp; Training Programs</a:t>
            </a:r>
            <a:endParaRPr lang="en-IN" sz="1800" dirty="0"/>
          </a:p>
          <a:p>
            <a:pPr marL="495300" indent="-342900">
              <a:lnSpc>
                <a:spcPct val="15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r>
              <a:rPr lang="en-IN" sz="1800" dirty="0"/>
              <a:t>Offline Mode</a:t>
            </a:r>
            <a:endParaRPr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Innovation / Novel Contributions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 sz="1400">
                <a:latin typeface="Calibri" panose="020F0502020204030204"/>
              </a:defRPr>
            </a:pPr>
            <a:r>
              <a:rPr lang="en-US" altLang="en-US" sz="1400" dirty="0"/>
              <a:t>Direct Farmer–Retailer/Consumer Connection (no middlemen).</a:t>
            </a:r>
            <a:endParaRPr lang="en-US" altLang="en-US" sz="1400" dirty="0"/>
          </a:p>
          <a:p>
            <a:pPr marL="152400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 sz="1400">
                <a:latin typeface="Calibri" panose="020F0502020204030204"/>
              </a:defRPr>
            </a:pPr>
            <a:endParaRPr lang="en-US" altLang="en-US" sz="1400" dirty="0"/>
          </a:p>
          <a:p>
            <a:pPr marL="152400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 sz="1400">
                <a:latin typeface="Calibri" panose="020F0502020204030204"/>
              </a:defRPr>
            </a:pPr>
            <a:r>
              <a:rPr lang="en-US" altLang="en-US" sz="1400" dirty="0"/>
              <a:t>Price Negotiation Feature within the app.</a:t>
            </a:r>
            <a:endParaRPr lang="en-US" altLang="en-US" sz="1400" dirty="0"/>
          </a:p>
          <a:p>
            <a:pPr marL="152400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 sz="1400">
                <a:latin typeface="Calibri" panose="020F0502020204030204"/>
              </a:defRPr>
            </a:pPr>
            <a:endParaRPr lang="en-US" altLang="en-US" sz="1400" dirty="0"/>
          </a:p>
          <a:p>
            <a:pPr marL="152400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 sz="1400">
                <a:latin typeface="Calibri" panose="020F0502020204030204"/>
              </a:defRPr>
            </a:pPr>
            <a:r>
              <a:rPr lang="en-US" altLang="en-US" sz="1400" dirty="0"/>
              <a:t>Produce Listing with Photos &amp; Details (quantity, price, quality).</a:t>
            </a:r>
            <a:endParaRPr lang="en-US" altLang="en-US" sz="1400" dirty="0"/>
          </a:p>
          <a:p>
            <a:pPr marL="152400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 sz="1400">
                <a:latin typeface="Calibri" panose="020F0502020204030204"/>
              </a:defRPr>
            </a:pPr>
            <a:endParaRPr lang="en-US" altLang="en-US" sz="1400" dirty="0"/>
          </a:p>
          <a:p>
            <a:pPr marL="152400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 sz="1400">
                <a:latin typeface="Calibri" panose="020F0502020204030204"/>
              </a:defRPr>
            </a:pPr>
            <a:r>
              <a:rPr lang="en-US" altLang="en-US" sz="1400" dirty="0"/>
              <a:t>Simple Multilingual Support (e.g., Kannada &amp; English).</a:t>
            </a:r>
            <a:endParaRPr lang="en-US" altLang="en-US" sz="1400" dirty="0"/>
          </a:p>
          <a:p>
            <a:pPr marL="152400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 sz="1400">
                <a:latin typeface="Calibri" panose="020F0502020204030204"/>
              </a:defRPr>
            </a:pPr>
            <a:endParaRPr lang="en-US" altLang="en-US" sz="1400" dirty="0"/>
          </a:p>
          <a:p>
            <a:pPr marL="152400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 sz="1400">
                <a:latin typeface="Calibri" panose="020F0502020204030204"/>
              </a:defRPr>
            </a:pPr>
            <a:r>
              <a:rPr lang="en-US" altLang="en-US" sz="1400" dirty="0"/>
              <a:t>Digital Transactions &amp; Order Tracking for transparency.</a:t>
            </a:r>
            <a:endParaRPr lang="en-US" altLang="en-US" sz="1400" dirty="0"/>
          </a:p>
          <a:p>
            <a:pPr marL="495300" indent="-342900">
              <a:lnSpc>
                <a:spcPct val="15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Tech stack</a:t>
            </a:r>
            <a:endParaRPr lang="en-I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Frontend: React Native (Mobile App)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Backend: FastAPI / Spring Boot (API Services)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Database: PostgreSQL (Supabase)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Authentication: Supabase Auth / Secure Login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Storage: Supabase for images (produce photos)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Software &amp; Hardware Requirements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0000"/>
          </a:bodyPr>
          <a:lstStyle/>
          <a:p>
            <a:pPr marL="495300" indent="-342900">
              <a:lnSpc>
                <a:spcPct val="20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r>
              <a:rPr sz="2000" b="1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sz="2000" dirty="0"/>
              <a:t>:
</a:t>
            </a:r>
            <a:r>
              <a:rPr lang="en-US" altLang="en-US" sz="2000" b="1" dirty="0"/>
              <a:t>React Native (Mobile App)</a:t>
            </a:r>
            <a:endParaRPr lang="en-US" altLang="en-US" sz="2000" b="1" dirty="0"/>
          </a:p>
          <a:p>
            <a:pPr marL="495300" indent="-342900">
              <a:lnSpc>
                <a:spcPct val="20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r>
              <a:rPr lang="en-US" altLang="en-US" sz="2000" b="1" dirty="0"/>
              <a:t>Node.js</a:t>
            </a:r>
            <a:endParaRPr lang="en-US" altLang="en-US" sz="2000" b="1" dirty="0"/>
          </a:p>
          <a:p>
            <a:pPr marL="495300" indent="-342900">
              <a:lnSpc>
                <a:spcPct val="20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r>
              <a:rPr lang="en-US" altLang="en-US" sz="2000" b="1" dirty="0"/>
              <a:t>FastAPI / Spring Boot (Backend API)</a:t>
            </a:r>
            <a:endParaRPr lang="en-US" altLang="en-US" sz="2000" b="1" dirty="0"/>
          </a:p>
          <a:p>
            <a:pPr marL="495300" indent="-342900">
              <a:lnSpc>
                <a:spcPct val="20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r>
              <a:rPr lang="en-US" altLang="en-US" sz="2000" b="1" dirty="0"/>
              <a:t>PostgreSQL (Database)</a:t>
            </a:r>
            <a:endParaRPr lang="en-US" altLang="en-US" sz="2000" b="1" dirty="0"/>
          </a:p>
          <a:p>
            <a:pPr marL="495300" indent="-342900">
              <a:lnSpc>
                <a:spcPct val="20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r>
              <a:rPr lang="en-US" altLang="en-US" sz="2000" b="1" dirty="0"/>
              <a:t>Supabase (Authentication, Storage, Hosting)</a:t>
            </a:r>
            <a:endParaRPr lang="en-US" altLang="en-US" sz="2000" b="1" dirty="0"/>
          </a:p>
          <a:p>
            <a:pPr marL="495300" indent="-342900">
              <a:lnSpc>
                <a:spcPct val="20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r>
              <a:rPr lang="en-US" altLang="en-US" sz="2000" b="1" dirty="0"/>
              <a:t>GitHub (Version Control &amp; Collaboration)</a:t>
            </a:r>
            <a:r>
              <a:rPr sz="2000" b="1" dirty="0"/>
              <a:t>Hardware:</a:t>
            </a:r>
            <a:r>
              <a:rPr sz="2000" dirty="0"/>
              <a:t>
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Farmers/Retailers: Android or iOS Smartphone (≥2GB RAM, Internet 3G/4G, GPS-enabled)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lnSpc>
                <a:spcPct val="20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lnSpc>
                <a:spcPct val="20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Developers: PC/Laptop (i5 or higher, 8GB RAM, SSD, 64-bit OS, Internet)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lnSpc>
                <a:spcPct val="20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lnSpc>
                <a:spcPct val="200000"/>
              </a:lnSpc>
              <a:spcBef>
                <a:spcPts val="0"/>
              </a:spcBef>
              <a:buSzPct val="100000"/>
              <a:defRPr sz="1400">
                <a:latin typeface="Calibri" panose="020F0502020204030204"/>
              </a:defRPr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Optional: Basic Server/Cloud hosting for backend services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Timeline (Gantt Chart)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1523992" y="1143000"/>
            <a:ext cx="906231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1400">
                <a:latin typeface="Calibri" panose="020F0502020204030204"/>
              </a:defRPr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992" y="1131570"/>
            <a:ext cx="8699508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References</a:t>
            </a: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E. S. Kishan, H. B. Tarun, and M. S. Prasad, "Mobile App for Direct Market Access for Farmers," </a:t>
            </a:r>
            <a:r>
              <a:rPr lang="en-IN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International Journal of Innovative Research in Technology (IJIRT)</a:t>
            </a: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vol. 11, no. 11, pp. 45–50, Apr. 2025.</a:t>
            </a:r>
            <a:endParaRPr lang="en-IN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A. D. Bhavani, M. S. Varshini, P. P. Reddy, and V. C. Varshith, "Mobile Application for Direct Market Access for Farmers," </a:t>
            </a:r>
            <a:r>
              <a:rPr lang="en-IN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International Journal of Engineering and Management Sciences (IJEMS)</a:t>
            </a: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vol. 6, no. 3, pp. 112–118, Mar. 2025.</a:t>
            </a:r>
            <a:endParaRPr lang="en-IN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[3] T. S. Tati, O. K. Landage, and R. K. Sangle, "Mobile Application for Farmer to Get Direct Access to Market, Transport, Fertilizer Shops," </a:t>
            </a:r>
            <a:r>
              <a:rPr lang="en-IN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International Journal for Research in Applied Science and Engineering Technology (IJRASET)</a:t>
            </a: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vol. 13, no. 4, pp. 2330–2336, Apr. 2025.</a:t>
            </a:r>
            <a:endParaRPr lang="en-IN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[4] K. Sughasini, R. S. Gowda, and P. M. Reddy, "Mobile App for Direct Market Access for Farmers," </a:t>
            </a:r>
            <a:r>
              <a:rPr lang="en-IN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Emerging Technologies and Innovative Research (JETIR)</a:t>
            </a: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vol. 11, no. 12, pp. 89–95, Dec. 2024.</a:t>
            </a:r>
            <a:endParaRPr lang="en-IN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[5] J. P. Gomez, A. M. Lozano, and C. A. Lopez, "AgroTIC: A Mobile Application for Crop Monitoring and Direct Market Access," </a:t>
            </a:r>
            <a:r>
              <a:rPr lang="en-IN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arXiv preprint arXiv:2305.12418</a:t>
            </a: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2023.</a:t>
            </a:r>
            <a:endParaRPr lang="en-IN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[6] R. C. Mwakalinga, A. C. Kaijage, and P. E. Mushi, "eKichabi v2: A Dual-Platform Mobile Agricultural Directory for Farmers in Tanzania," </a:t>
            </a:r>
            <a:r>
              <a:rPr lang="en-IN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arXiv preprint arXiv:2403.09980</a:t>
            </a: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2024.</a:t>
            </a:r>
            <a:endParaRPr lang="en-IN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400" indent="0" algn="l">
              <a:lnSpc>
                <a:spcPct val="150000"/>
              </a:lnSpc>
              <a:spcBef>
                <a:spcPts val="0"/>
              </a:spcBef>
              <a:buNone/>
              <a:defRPr sz="1400">
                <a:latin typeface="Calibri" panose="020F0502020204030204"/>
              </a:defRPr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4588</Words>
  <Application>WPS Presentation</Application>
  <PresentationFormat>Widescreen</PresentationFormat>
  <Paragraphs>144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Arial</vt:lpstr>
      <vt:lpstr>Verdana</vt:lpstr>
      <vt:lpstr>Bookman Old Style</vt:lpstr>
      <vt:lpstr>Segoe Print</vt:lpstr>
      <vt:lpstr>Cambria</vt:lpstr>
      <vt:lpstr>Verdana</vt:lpstr>
      <vt:lpstr>Calibri</vt:lpstr>
      <vt:lpstr>Calibri</vt:lpstr>
      <vt:lpstr>Microsoft YaHei</vt:lpstr>
      <vt:lpstr>Arial Unicode MS</vt:lpstr>
      <vt:lpstr>Bioinformatics</vt:lpstr>
      <vt:lpstr>PROJECT TITLE: Mobile App For Direct Access For Farmers</vt:lpstr>
      <vt:lpstr>Content</vt:lpstr>
      <vt:lpstr>Problem Statement Number: PSCS_281 </vt:lpstr>
      <vt:lpstr>Objectives</vt:lpstr>
      <vt:lpstr>Background &amp; Related Work</vt:lpstr>
      <vt:lpstr>Analysis of Problem Statement</vt:lpstr>
      <vt:lpstr>Innovation / Novel Contributions</vt:lpstr>
      <vt:lpstr>Github Link</vt:lpstr>
      <vt:lpstr>Tech stack</vt:lpstr>
      <vt:lpstr>Software &amp; Hardware Requirements</vt:lpstr>
      <vt:lpstr>Timeline (Gantt Chart)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admin</cp:lastModifiedBy>
  <cp:revision>43</cp:revision>
  <dcterms:created xsi:type="dcterms:W3CDTF">2025-08-19T14:54:00Z</dcterms:created>
  <dcterms:modified xsi:type="dcterms:W3CDTF">2025-09-08T05:30:20Z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C0EC8F2C274E4A299282183BA987E92C_12</vt:lpwstr>
  </property>
  <property fmtid="{D5CDD505-2E9C-101B-9397-08002B2CF9AE}" pid="3" name="KSOProductBuildVer">
    <vt:lpwstr>1033-12.2.0.21931</vt:lpwstr>
  </property>
</Properties>
</file>